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97" r:id="rId2"/>
    <p:sldId id="398" r:id="rId3"/>
    <p:sldId id="416" r:id="rId4"/>
    <p:sldId id="417" r:id="rId5"/>
    <p:sldId id="418" r:id="rId6"/>
    <p:sldId id="5845" r:id="rId7"/>
    <p:sldId id="5846" r:id="rId8"/>
    <p:sldId id="5847" r:id="rId9"/>
    <p:sldId id="5837" r:id="rId10"/>
    <p:sldId id="5843" r:id="rId11"/>
    <p:sldId id="5848" r:id="rId12"/>
    <p:sldId id="5841"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457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255" y="5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9E72F4-1652-4E37-895A-904FEA7118F9}" type="datetimeFigureOut">
              <a:rPr lang="zh-CN" altLang="en-US" smtClean="0"/>
              <a:t>2022/11/22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37A2AF-0A32-46A7-9F37-66730547F957}" type="slidenum">
              <a:rPr lang="zh-CN" altLang="en-US" smtClean="0"/>
              <a:t>‹#›</a:t>
            </a:fld>
            <a:endParaRPr lang="zh-CN" altLang="en-US"/>
          </a:p>
        </p:txBody>
      </p:sp>
    </p:spTree>
    <p:extLst>
      <p:ext uri="{BB962C8B-B14F-4D97-AF65-F5344CB8AC3E}">
        <p14:creationId xmlns:p14="http://schemas.microsoft.com/office/powerpoint/2010/main" val="115964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60CE94-C8B5-4765-AD5B-3FC1F3198D6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6303C66-392A-404B-B59D-0FC1C94EAC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3D761F-1A29-4E59-BADC-BAD49BE56F66}"/>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5" name="页脚占位符 4">
            <a:extLst>
              <a:ext uri="{FF2B5EF4-FFF2-40B4-BE49-F238E27FC236}">
                <a16:creationId xmlns:a16="http://schemas.microsoft.com/office/drawing/2014/main" id="{36177AEE-D3D4-407A-BB00-4412C4BBD8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2B80FD-8E5A-4BDC-86F0-F7562EAF1C78}"/>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4205427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A8B2ED-B953-4B5C-A97D-730E5650AF3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071DB52-41C0-4291-BD14-5B3C2A26A6C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B6C4B2-9CB8-4194-A7B9-DFC243180411}"/>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5" name="页脚占位符 4">
            <a:extLst>
              <a:ext uri="{FF2B5EF4-FFF2-40B4-BE49-F238E27FC236}">
                <a16:creationId xmlns:a16="http://schemas.microsoft.com/office/drawing/2014/main" id="{4473BC2E-E595-4C7D-A4CB-80B3F8CAFC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7D786D-3EA0-4A7F-81FC-AE2131376F22}"/>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2861528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3F1320-19F4-4AAC-B369-88FFDD1A7A5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D977461-AAD2-45C7-9670-C19EE6CED2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117F154-4860-4DD3-A3DA-8301F5A15818}"/>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5" name="页脚占位符 4">
            <a:extLst>
              <a:ext uri="{FF2B5EF4-FFF2-40B4-BE49-F238E27FC236}">
                <a16:creationId xmlns:a16="http://schemas.microsoft.com/office/drawing/2014/main" id="{DA31B8DD-D27E-4F68-BF1A-F8728220A8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E30B86-A6C2-4011-BEB8-1C1A5F1EB8F8}"/>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1351266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A5CDF5-A6EE-40E5-8BB2-8C82B3A9035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5001BF1-18D8-441B-8076-30BAF272222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4FB4890-5358-4E91-92AF-253FC28C7D1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3B9FDF4-0A3C-4D98-B29E-99757C233D69}"/>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6" name="页脚占位符 5">
            <a:extLst>
              <a:ext uri="{FF2B5EF4-FFF2-40B4-BE49-F238E27FC236}">
                <a16:creationId xmlns:a16="http://schemas.microsoft.com/office/drawing/2014/main" id="{47FF4A62-F582-4326-9787-B86A93E186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1AAF70-7E6A-41AE-B61D-810E3BA7AB32}"/>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1480358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91E41A-A6EB-4ED6-973A-118E488D348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9FCA91F-EC36-49B4-889E-0A2D12E1FB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EB95F6E-0AC3-493C-BCA2-C33BB44F98D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1F26C02-B54C-4DF0-B748-70B5BE521E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4EFD0D0-6B86-4DC2-BC5C-EE71454851E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C4484EC-E196-4C0E-92E1-F5DCA47DFE10}"/>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8" name="页脚占位符 7">
            <a:extLst>
              <a:ext uri="{FF2B5EF4-FFF2-40B4-BE49-F238E27FC236}">
                <a16:creationId xmlns:a16="http://schemas.microsoft.com/office/drawing/2014/main" id="{F9ECDEA1-9D4C-46FC-8CBD-521633BCCD4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5257527-A01A-4DDB-A649-AF0B595A707F}"/>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123997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02A7B4-2661-4BD6-B702-220BF31EC61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2739F2F-130A-4E2E-8C40-EA5BEDE38ED3}"/>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4" name="页脚占位符 3">
            <a:extLst>
              <a:ext uri="{FF2B5EF4-FFF2-40B4-BE49-F238E27FC236}">
                <a16:creationId xmlns:a16="http://schemas.microsoft.com/office/drawing/2014/main" id="{7E2D4A17-9EC0-465D-970A-85A3C9B69BA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F91094B-3D46-45E5-8D03-09BE63DAD207}"/>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550663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733329B-B8EC-4C76-A042-8CFF5FE25D73}"/>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3" name="页脚占位符 2">
            <a:extLst>
              <a:ext uri="{FF2B5EF4-FFF2-40B4-BE49-F238E27FC236}">
                <a16:creationId xmlns:a16="http://schemas.microsoft.com/office/drawing/2014/main" id="{1EBEFB88-5317-4A62-9369-27365245230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7B1135C-6BF8-411E-B52D-9C0213B6909E}"/>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2030717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096FBA-CB25-4579-B7B0-D685E6D45D8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84A9A6E-8D93-4EBD-BB6D-BF9DBED5C6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4BE9A13-D32E-4128-B0A8-791C24A336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0F25AFA-9839-4DFA-8FD3-A5302C0C9F0E}"/>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6" name="页脚占位符 5">
            <a:extLst>
              <a:ext uri="{FF2B5EF4-FFF2-40B4-BE49-F238E27FC236}">
                <a16:creationId xmlns:a16="http://schemas.microsoft.com/office/drawing/2014/main" id="{C24447C5-64C7-43D9-9517-4385E8EA84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AA2B6E5-B82C-401D-BB8E-36D8E12304C9}"/>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2739208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5B9BDA-3596-40AC-98F1-58A11A3A03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E8C3D0D-A1DF-46B3-A3CD-15DDC6F4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93D03A0-FA6C-4EA9-9DCA-CD311A811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F2E7B-00E6-4C95-80A0-52164F765DAA}"/>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6" name="页脚占位符 5">
            <a:extLst>
              <a:ext uri="{FF2B5EF4-FFF2-40B4-BE49-F238E27FC236}">
                <a16:creationId xmlns:a16="http://schemas.microsoft.com/office/drawing/2014/main" id="{2AC24D97-CF79-4B63-A87F-8075622FAB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EDF4CE0-9735-452D-9C98-0998E2396B04}"/>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503806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DC6E86-8A85-4885-9381-44EF1AC463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6FB44AD-D403-4ED1-BB9B-EA3456713CB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4B97AD-A90A-4BF3-B450-F5F0FD02AAA6}"/>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5" name="页脚占位符 4">
            <a:extLst>
              <a:ext uri="{FF2B5EF4-FFF2-40B4-BE49-F238E27FC236}">
                <a16:creationId xmlns:a16="http://schemas.microsoft.com/office/drawing/2014/main" id="{5F9472DA-58CF-4F88-8E92-126F7A485B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790502A-6762-414E-800D-44C7C8AACB32}"/>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692410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20C3E6A-311A-4982-9621-EB9598C1D5E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9C83BE9-6D99-450C-9FCF-A46F4C8A0B2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78E52A-A42F-42F2-BD59-5A50C5E495E9}"/>
              </a:ext>
            </a:extLst>
          </p:cNvPr>
          <p:cNvSpPr>
            <a:spLocks noGrp="1"/>
          </p:cNvSpPr>
          <p:nvPr>
            <p:ph type="dt" sz="half" idx="10"/>
          </p:nvPr>
        </p:nvSpPr>
        <p:spPr/>
        <p:txBody>
          <a:bodyPr/>
          <a:lstStyle/>
          <a:p>
            <a:fld id="{3741C3DC-2BDC-435C-B730-70DE9CFFF234}" type="datetimeFigureOut">
              <a:rPr lang="zh-CN" altLang="en-US" smtClean="0"/>
              <a:t>2022/11/22</a:t>
            </a:fld>
            <a:endParaRPr lang="zh-CN" altLang="en-US"/>
          </a:p>
        </p:txBody>
      </p:sp>
      <p:sp>
        <p:nvSpPr>
          <p:cNvPr id="5" name="页脚占位符 4">
            <a:extLst>
              <a:ext uri="{FF2B5EF4-FFF2-40B4-BE49-F238E27FC236}">
                <a16:creationId xmlns:a16="http://schemas.microsoft.com/office/drawing/2014/main" id="{8B314ED4-871C-4334-8622-5A2ECA9D83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986DE3-6A73-469A-8265-1EB2A8A89788}"/>
              </a:ext>
            </a:extLst>
          </p:cNvPr>
          <p:cNvSpPr>
            <a:spLocks noGrp="1"/>
          </p:cNvSpPr>
          <p:nvPr>
            <p:ph type="sldNum" sz="quarter" idx="12"/>
          </p:nvPr>
        </p:nvSpPr>
        <p:spPr/>
        <p:txBody>
          <a:body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339694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文字版式">
    <p:spTree>
      <p:nvGrpSpPr>
        <p:cNvPr id="1" name=""/>
        <p:cNvGrpSpPr/>
        <p:nvPr/>
      </p:nvGrpSpPr>
      <p:grpSpPr>
        <a:xfrm>
          <a:off x="0" y="0"/>
          <a:ext cx="0" cy="0"/>
          <a:chOff x="0" y="0"/>
          <a:chExt cx="0" cy="0"/>
        </a:xfrm>
      </p:grpSpPr>
      <p:sp>
        <p:nvSpPr>
          <p:cNvPr id="5" name="文本占位符 10">
            <a:extLst>
              <a:ext uri="{FF2B5EF4-FFF2-40B4-BE49-F238E27FC236}">
                <a16:creationId xmlns:a16="http://schemas.microsoft.com/office/drawing/2014/main" id="{645AB393-FFD5-499C-AA9D-8A525DA76E89}"/>
              </a:ext>
            </a:extLst>
          </p:cNvPr>
          <p:cNvSpPr>
            <a:spLocks noGrp="1"/>
          </p:cNvSpPr>
          <p:nvPr>
            <p:ph type="body" sz="quarter" idx="13"/>
          </p:nvPr>
        </p:nvSpPr>
        <p:spPr>
          <a:xfrm>
            <a:off x="1209676" y="380448"/>
            <a:ext cx="10499852" cy="374788"/>
          </a:xfrm>
          <a:prstGeom prst="rect">
            <a:avLst/>
          </a:prstGeom>
        </p:spPr>
        <p:txBody>
          <a:bodyPr>
            <a:noAutofit/>
          </a:bodyPr>
          <a:lstStyle>
            <a:lvl1pPr marL="0" indent="0" algn="l">
              <a:buFontTx/>
              <a:buNone/>
              <a:defRPr sz="2800" b="0" spc="225">
                <a:solidFill>
                  <a:schemeClr val="tx1">
                    <a:lumMod val="95000"/>
                    <a:lumOff val="5000"/>
                  </a:schemeClr>
                </a:solidFill>
                <a:latin typeface="Ping Hei" panose="02010800040101010101" pitchFamily="2" charset="-122"/>
                <a:ea typeface="Ping Hei" panose="02010800040101010101" pitchFamily="2" charset="-122"/>
              </a:defRPr>
            </a:lvl1pPr>
            <a:lvl2pPr marL="0" indent="0" algn="l">
              <a:buFontTx/>
              <a:buNone/>
              <a:defRPr sz="1800" b="1" spc="225">
                <a:solidFill>
                  <a:schemeClr val="tx1">
                    <a:lumMod val="75000"/>
                    <a:lumOff val="25000"/>
                  </a:schemeClr>
                </a:solidFill>
                <a:latin typeface="方正兰亭黑简体" panose="02000000000000000000" pitchFamily="2" charset="-122"/>
                <a:ea typeface="方正兰亭黑简体" panose="02000000000000000000" pitchFamily="2" charset="-122"/>
              </a:defRPr>
            </a:lvl2pPr>
            <a:lvl3pPr marL="0" indent="0" algn="l">
              <a:buFontTx/>
              <a:buNone/>
              <a:defRPr sz="1800" b="1" spc="225">
                <a:solidFill>
                  <a:schemeClr val="tx1">
                    <a:lumMod val="75000"/>
                    <a:lumOff val="25000"/>
                  </a:schemeClr>
                </a:solidFill>
                <a:latin typeface="方正兰亭黑简体" panose="02000000000000000000" pitchFamily="2" charset="-122"/>
                <a:ea typeface="方正兰亭黑简体" panose="02000000000000000000" pitchFamily="2" charset="-122"/>
              </a:defRPr>
            </a:lvl3pPr>
            <a:lvl4pPr marL="0" indent="0" algn="l">
              <a:buFontTx/>
              <a:buNone/>
              <a:defRPr sz="1800" b="1" spc="225">
                <a:solidFill>
                  <a:schemeClr val="tx1">
                    <a:lumMod val="75000"/>
                    <a:lumOff val="25000"/>
                  </a:schemeClr>
                </a:solidFill>
                <a:latin typeface="方正兰亭黑简体" panose="02000000000000000000" pitchFamily="2" charset="-122"/>
                <a:ea typeface="方正兰亭黑简体" panose="02000000000000000000" pitchFamily="2" charset="-122"/>
              </a:defRPr>
            </a:lvl4pPr>
            <a:lvl5pPr marL="0" indent="0" algn="l">
              <a:buFontTx/>
              <a:buNone/>
              <a:defRPr sz="1800" b="1" spc="225">
                <a:solidFill>
                  <a:schemeClr val="tx1">
                    <a:lumMod val="75000"/>
                    <a:lumOff val="25000"/>
                  </a:schemeClr>
                </a:solidFill>
                <a:latin typeface="方正兰亭黑简体" panose="02000000000000000000" pitchFamily="2" charset="-122"/>
                <a:ea typeface="方正兰亭黑简体" panose="02000000000000000000" pitchFamily="2" charset="-122"/>
              </a:defRPr>
            </a:lvl5pPr>
          </a:lstStyle>
          <a:p>
            <a:pPr lvl="0"/>
            <a:endParaRPr lang="zh-CN" altLang="en-US" dirty="0"/>
          </a:p>
        </p:txBody>
      </p:sp>
      <p:grpSp>
        <p:nvGrpSpPr>
          <p:cNvPr id="7" name="组合 6">
            <a:extLst>
              <a:ext uri="{FF2B5EF4-FFF2-40B4-BE49-F238E27FC236}">
                <a16:creationId xmlns:a16="http://schemas.microsoft.com/office/drawing/2014/main" id="{1DCCC5D9-6C61-4674-9E97-E12671C8E385}"/>
              </a:ext>
            </a:extLst>
          </p:cNvPr>
          <p:cNvGrpSpPr/>
          <p:nvPr userDrawn="1"/>
        </p:nvGrpSpPr>
        <p:grpSpPr>
          <a:xfrm>
            <a:off x="-15416" y="434975"/>
            <a:ext cx="1225091" cy="324422"/>
            <a:chOff x="-4356097" y="2885564"/>
            <a:chExt cx="613033" cy="130436"/>
          </a:xfrm>
          <a:gradFill>
            <a:gsLst>
              <a:gs pos="63000">
                <a:srgbClr val="189695">
                  <a:alpha val="84000"/>
                </a:srgbClr>
              </a:gs>
              <a:gs pos="4000">
                <a:srgbClr val="5BB195">
                  <a:alpha val="0"/>
                </a:srgbClr>
              </a:gs>
              <a:gs pos="100000">
                <a:srgbClr val="3142C4"/>
              </a:gs>
            </a:gsLst>
            <a:lin ang="1200000" scaled="0"/>
          </a:gradFill>
        </p:grpSpPr>
        <p:sp>
          <p:nvSpPr>
            <p:cNvPr id="8" name="矩形 7">
              <a:extLst>
                <a:ext uri="{FF2B5EF4-FFF2-40B4-BE49-F238E27FC236}">
                  <a16:creationId xmlns:a16="http://schemas.microsoft.com/office/drawing/2014/main" id="{3533873C-40AB-4541-BF54-E2C3A40C0B38}"/>
                </a:ext>
              </a:extLst>
            </p:cNvPr>
            <p:cNvSpPr/>
            <p:nvPr/>
          </p:nvSpPr>
          <p:spPr>
            <a:xfrm>
              <a:off x="-4356097" y="2885564"/>
              <a:ext cx="467573" cy="130436"/>
            </a:xfrm>
            <a:prstGeom prst="rect">
              <a:avLst/>
            </a:prstGeom>
            <a:solidFill>
              <a:srgbClr val="4C65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93B50BA-E726-4561-8E0E-C34E40F6916D}"/>
                </a:ext>
              </a:extLst>
            </p:cNvPr>
            <p:cNvSpPr/>
            <p:nvPr userDrawn="1"/>
          </p:nvSpPr>
          <p:spPr>
            <a:xfrm>
              <a:off x="-3889461" y="2885564"/>
              <a:ext cx="146397" cy="130436"/>
            </a:xfrm>
            <a:prstGeom prst="rect">
              <a:avLst/>
            </a:prstGeom>
            <a:solidFill>
              <a:srgbClr val="1FB1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p>
          </p:txBody>
        </p:sp>
      </p:grpSp>
      <p:sp>
        <p:nvSpPr>
          <p:cNvPr id="10" name="文本占位符 10">
            <a:extLst>
              <a:ext uri="{FF2B5EF4-FFF2-40B4-BE49-F238E27FC236}">
                <a16:creationId xmlns:a16="http://schemas.microsoft.com/office/drawing/2014/main" id="{2D803F9A-6AA4-4A04-8247-2E9B902DC584}"/>
              </a:ext>
            </a:extLst>
          </p:cNvPr>
          <p:cNvSpPr>
            <a:spLocks noGrp="1"/>
          </p:cNvSpPr>
          <p:nvPr>
            <p:ph type="body" sz="quarter" idx="14" hasCustomPrompt="1"/>
          </p:nvPr>
        </p:nvSpPr>
        <p:spPr>
          <a:xfrm>
            <a:off x="-15416" y="434975"/>
            <a:ext cx="932530" cy="324422"/>
          </a:xfrm>
          <a:prstGeom prst="rect">
            <a:avLst/>
          </a:prstGeom>
        </p:spPr>
        <p:txBody>
          <a:bodyPr>
            <a:noAutofit/>
          </a:bodyPr>
          <a:lstStyle>
            <a:lvl1pPr marL="0" indent="0" algn="ctr">
              <a:buFontTx/>
              <a:buNone/>
              <a:defRPr sz="2000" b="0" spc="225">
                <a:solidFill>
                  <a:schemeClr val="bg1"/>
                </a:solidFill>
                <a:latin typeface="+mn-lt"/>
                <a:ea typeface="Ping Hei" panose="02010800040101010101" pitchFamily="2" charset="-122"/>
              </a:defRPr>
            </a:lvl1pPr>
            <a:lvl2pPr marL="0" indent="0" algn="l">
              <a:buFontTx/>
              <a:buNone/>
              <a:defRPr sz="1800" b="1" spc="225">
                <a:solidFill>
                  <a:schemeClr val="tx1">
                    <a:lumMod val="75000"/>
                    <a:lumOff val="25000"/>
                  </a:schemeClr>
                </a:solidFill>
                <a:latin typeface="方正兰亭黑简体" panose="02000000000000000000" pitchFamily="2" charset="-122"/>
                <a:ea typeface="方正兰亭黑简体" panose="02000000000000000000" pitchFamily="2" charset="-122"/>
              </a:defRPr>
            </a:lvl2pPr>
            <a:lvl3pPr marL="0" indent="0" algn="l">
              <a:buFontTx/>
              <a:buNone/>
              <a:defRPr sz="1800" b="1" spc="225">
                <a:solidFill>
                  <a:schemeClr val="tx1">
                    <a:lumMod val="75000"/>
                    <a:lumOff val="25000"/>
                  </a:schemeClr>
                </a:solidFill>
                <a:latin typeface="方正兰亭黑简体" panose="02000000000000000000" pitchFamily="2" charset="-122"/>
                <a:ea typeface="方正兰亭黑简体" panose="02000000000000000000" pitchFamily="2" charset="-122"/>
              </a:defRPr>
            </a:lvl3pPr>
            <a:lvl4pPr marL="0" indent="0" algn="l">
              <a:buFontTx/>
              <a:buNone/>
              <a:defRPr sz="1800" b="1" spc="225">
                <a:solidFill>
                  <a:schemeClr val="tx1">
                    <a:lumMod val="75000"/>
                    <a:lumOff val="25000"/>
                  </a:schemeClr>
                </a:solidFill>
                <a:latin typeface="方正兰亭黑简体" panose="02000000000000000000" pitchFamily="2" charset="-122"/>
                <a:ea typeface="方正兰亭黑简体" panose="02000000000000000000" pitchFamily="2" charset="-122"/>
              </a:defRPr>
            </a:lvl4pPr>
            <a:lvl5pPr marL="0" indent="0" algn="l">
              <a:buFontTx/>
              <a:buNone/>
              <a:defRPr sz="1800" b="1" spc="225">
                <a:solidFill>
                  <a:schemeClr val="tx1">
                    <a:lumMod val="75000"/>
                    <a:lumOff val="25000"/>
                  </a:schemeClr>
                </a:solidFill>
                <a:latin typeface="方正兰亭黑简体" panose="02000000000000000000" pitchFamily="2" charset="-122"/>
                <a:ea typeface="方正兰亭黑简体" panose="02000000000000000000" pitchFamily="2" charset="-122"/>
              </a:defRPr>
            </a:lvl5pPr>
          </a:lstStyle>
          <a:p>
            <a:pPr lvl="0"/>
            <a:r>
              <a:rPr lang="en-US" altLang="zh-CN" dirty="0"/>
              <a:t>1</a:t>
            </a:r>
            <a:endParaRPr lang="zh-CN" altLang="en-US" dirty="0"/>
          </a:p>
        </p:txBody>
      </p:sp>
      <p:sp>
        <p:nvSpPr>
          <p:cNvPr id="47" name="文本占位符 47">
            <a:extLst>
              <a:ext uri="{FF2B5EF4-FFF2-40B4-BE49-F238E27FC236}">
                <a16:creationId xmlns:a16="http://schemas.microsoft.com/office/drawing/2014/main" id="{1EDF4699-98F4-4FC1-85B3-FC4A7D132A39}"/>
              </a:ext>
            </a:extLst>
          </p:cNvPr>
          <p:cNvSpPr>
            <a:spLocks noGrp="1"/>
          </p:cNvSpPr>
          <p:nvPr>
            <p:ph type="body" sz="quarter" idx="15"/>
          </p:nvPr>
        </p:nvSpPr>
        <p:spPr>
          <a:xfrm>
            <a:off x="479424" y="1244098"/>
            <a:ext cx="11230103" cy="4616954"/>
          </a:xfrm>
          <a:prstGeom prst="rect">
            <a:avLst/>
          </a:prstGeom>
        </p:spPr>
        <p:txBody>
          <a:bodyPr/>
          <a:lstStyle>
            <a:lvl1pPr marL="228600" indent="-228600">
              <a:lnSpc>
                <a:spcPct val="130000"/>
              </a:lnSpc>
              <a:buClr>
                <a:schemeClr val="accent3"/>
              </a:buClr>
              <a:buSzPct val="60000"/>
              <a:buFont typeface="Wingdings" panose="05000000000000000000" pitchFamily="2" charset="2"/>
              <a:buChar char="n"/>
              <a:defRPr sz="1800">
                <a:solidFill>
                  <a:schemeClr val="tx1">
                    <a:lumMod val="85000"/>
                    <a:lumOff val="15000"/>
                  </a:schemeClr>
                </a:solidFill>
              </a:defRPr>
            </a:lvl1pPr>
            <a:lvl2pPr marL="685800" indent="-228600">
              <a:lnSpc>
                <a:spcPct val="130000"/>
              </a:lnSpc>
              <a:buClr>
                <a:schemeClr val="accent3"/>
              </a:buClr>
              <a:buSzPct val="50000"/>
              <a:buFont typeface="Wingdings" panose="05000000000000000000" pitchFamily="2" charset="2"/>
              <a:buChar char="u"/>
              <a:defRPr sz="1600">
                <a:solidFill>
                  <a:schemeClr val="tx1">
                    <a:lumMod val="75000"/>
                    <a:lumOff val="25000"/>
                  </a:schemeClr>
                </a:solidFill>
              </a:defRPr>
            </a:lvl2pPr>
            <a:lvl3pPr marL="1143000" indent="-228600">
              <a:lnSpc>
                <a:spcPct val="130000"/>
              </a:lnSpc>
              <a:buSzPct val="80000"/>
              <a:buFont typeface="Roboto" pitchFamily="2" charset="0"/>
              <a:buChar char="–"/>
              <a:defRPr sz="1200">
                <a:solidFill>
                  <a:schemeClr val="tx1">
                    <a:lumMod val="65000"/>
                    <a:lumOff val="35000"/>
                  </a:schemeClr>
                </a:solidFill>
              </a:defRPr>
            </a:lvl3pPr>
            <a:lvl4pPr marL="1600200" indent="-228600">
              <a:lnSpc>
                <a:spcPct val="130000"/>
              </a:lnSpc>
              <a:buSzPct val="60000"/>
              <a:buFont typeface="Roboto" pitchFamily="2" charset="0"/>
              <a:buChar char="–"/>
              <a:defRPr sz="1100">
                <a:solidFill>
                  <a:schemeClr val="tx1">
                    <a:lumMod val="65000"/>
                    <a:lumOff val="35000"/>
                  </a:schemeClr>
                </a:solidFill>
              </a:defRPr>
            </a:lvl4pPr>
            <a:lvl5pPr marL="2057400" indent="-228600">
              <a:lnSpc>
                <a:spcPct val="130000"/>
              </a:lnSpc>
              <a:buSzPct val="60000"/>
              <a:buFont typeface="Roboto" pitchFamily="2" charset="0"/>
              <a:buChar char="–"/>
              <a:defRPr sz="1100">
                <a:solidFill>
                  <a:schemeClr val="tx1">
                    <a:lumMod val="65000"/>
                    <a:lumOff val="35000"/>
                  </a:schemeClr>
                </a:solidFill>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352915949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pic>
        <p:nvPicPr>
          <p:cNvPr id="5" name="内容占位符 4" descr="过度页"/>
          <p:cNvPicPr>
            <a:picLocks noGrp="1" noChangeAspect="1"/>
          </p:cNvPicPr>
          <p:nvPr>
            <p:ph idx="1"/>
          </p:nvPr>
        </p:nvPicPr>
        <p:blipFill>
          <a:blip r:embed="rId2"/>
          <a:srcRect r="23826" b="20040"/>
          <a:stretch>
            <a:fillRect/>
          </a:stretch>
        </p:blipFill>
        <p:spPr>
          <a:xfrm>
            <a:off x="0" y="0"/>
            <a:ext cx="12191365" cy="6858635"/>
          </a:xfrm>
          <a:prstGeom prst="rect">
            <a:avLst/>
          </a:prstGeom>
        </p:spPr>
      </p:pic>
      <p:sp>
        <p:nvSpPr>
          <p:cNvPr id="2" name="标题 1"/>
          <p:cNvSpPr>
            <a:spLocks noGrp="1"/>
          </p:cNvSpPr>
          <p:nvPr>
            <p:ph type="title"/>
          </p:nvPr>
        </p:nvSpPr>
        <p:spPr>
          <a:xfrm>
            <a:off x="839733" y="1933734"/>
            <a:ext cx="10148563" cy="860265"/>
          </a:xfrm>
          <a:prstGeom prst="rect">
            <a:avLst/>
          </a:prstGeom>
        </p:spPr>
        <p:txBody>
          <a:bodyPr/>
          <a:lstStyle>
            <a:lvl1pPr marL="0" algn="l" defTabSz="914400" rtl="0" eaLnBrk="1" latinLnBrk="0" hangingPunct="1">
              <a:lnSpc>
                <a:spcPct val="100000"/>
              </a:lnSpc>
              <a:spcBef>
                <a:spcPct val="0"/>
              </a:spcBef>
              <a:buNone/>
              <a:defRPr lang="zh-CN" altLang="en-US" sz="6000" b="1" kern="1200" spc="300" dirty="0">
                <a:solidFill>
                  <a:schemeClr val="bg1"/>
                </a:solidFill>
                <a:latin typeface="+mj-ea"/>
                <a:ea typeface="+mj-ea"/>
                <a:cs typeface="胡晓波男神体" panose="02010600030101010101" pitchFamily="2" charset="-122"/>
              </a:defRPr>
            </a:lvl1pPr>
          </a:lstStyle>
          <a:p>
            <a:r>
              <a:rPr lang="zh-CN" altLang="en-US" dirty="0"/>
              <a:t>单击此处编辑母版标题样式</a:t>
            </a:r>
          </a:p>
        </p:txBody>
      </p:sp>
      <p:sp>
        <p:nvSpPr>
          <p:cNvPr id="13" name="文本占位符 36"/>
          <p:cNvSpPr>
            <a:spLocks noGrp="1"/>
          </p:cNvSpPr>
          <p:nvPr>
            <p:ph type="body" sz="quarter" idx="25" hasCustomPrompt="1"/>
          </p:nvPr>
        </p:nvSpPr>
        <p:spPr>
          <a:xfrm>
            <a:off x="839733" y="2828716"/>
            <a:ext cx="10148563" cy="333940"/>
          </a:xfrm>
          <a:prstGeom prst="rect">
            <a:avLst/>
          </a:prstGeom>
        </p:spPr>
        <p:txBody>
          <a:bodyPr/>
          <a:lstStyle>
            <a:lvl1pPr marL="0" indent="0">
              <a:buFontTx/>
              <a:buNone/>
              <a:defRPr sz="1400" spc="300">
                <a:solidFill>
                  <a:schemeClr val="bg1"/>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单击输入二级标题</a:t>
            </a:r>
          </a:p>
        </p:txBody>
      </p:sp>
      <p:sp>
        <p:nvSpPr>
          <p:cNvPr id="14" name="矩形 13"/>
          <p:cNvSpPr/>
          <p:nvPr userDrawn="1"/>
        </p:nvSpPr>
        <p:spPr>
          <a:xfrm>
            <a:off x="947328" y="3626672"/>
            <a:ext cx="648000" cy="36000"/>
          </a:xfrm>
          <a:prstGeom prst="rect">
            <a:avLst/>
          </a:prstGeom>
          <a:gradFill>
            <a:gsLst>
              <a:gs pos="100000">
                <a:schemeClr val="accent1"/>
              </a:gs>
              <a:gs pos="0">
                <a:schemeClr val="accent3"/>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文本占位符 36"/>
          <p:cNvSpPr>
            <a:spLocks noGrp="1"/>
          </p:cNvSpPr>
          <p:nvPr>
            <p:ph type="body" sz="quarter" idx="26" hasCustomPrompt="1"/>
          </p:nvPr>
        </p:nvSpPr>
        <p:spPr>
          <a:xfrm>
            <a:off x="839733" y="3890753"/>
            <a:ext cx="2398767" cy="333940"/>
          </a:xfrm>
          <a:prstGeom prst="rect">
            <a:avLst/>
          </a:prstGeom>
        </p:spPr>
        <p:txBody>
          <a:bodyPr/>
          <a:lstStyle>
            <a:lvl1pPr marL="0" indent="0">
              <a:buFontTx/>
              <a:buNone/>
              <a:defRPr sz="1800" spc="300">
                <a:solidFill>
                  <a:schemeClr val="bg1"/>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r>
              <a:rPr lang="zh-CN" altLang="en-US" spc="600" dirty="0">
                <a:solidFill>
                  <a:schemeClr val="bg1"/>
                </a:solidFill>
                <a:latin typeface="+mj-ea"/>
                <a:ea typeface="+mj-ea"/>
              </a:rPr>
              <a:t>汇报人：</a:t>
            </a:r>
            <a:r>
              <a:rPr lang="en-US" altLang="zh-CN" spc="600" dirty="0">
                <a:solidFill>
                  <a:schemeClr val="bg1"/>
                </a:solidFill>
                <a:latin typeface="+mj-ea"/>
                <a:ea typeface="+mj-ea"/>
              </a:rPr>
              <a:t>XXX</a:t>
            </a:r>
            <a:endParaRPr lang="zh-CN" altLang="en-US" spc="600" dirty="0">
              <a:solidFill>
                <a:schemeClr val="bg1"/>
              </a:solidFill>
              <a:latin typeface="+mj-ea"/>
              <a:ea typeface="+mj-ea"/>
            </a:endParaRPr>
          </a:p>
        </p:txBody>
      </p:sp>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4869" y="6320054"/>
            <a:ext cx="1224918" cy="285022"/>
          </a:xfrm>
          <a:prstGeom prst="rect">
            <a:avLst/>
          </a:prstGeom>
        </p:spPr>
      </p:pic>
    </p:spTree>
    <p:extLst>
      <p:ext uri="{BB962C8B-B14F-4D97-AF65-F5344CB8AC3E}">
        <p14:creationId xmlns:p14="http://schemas.microsoft.com/office/powerpoint/2010/main" val="3942066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内容与标题">
    <p:spTree>
      <p:nvGrpSpPr>
        <p:cNvPr id="1" name=""/>
        <p:cNvGrpSpPr/>
        <p:nvPr/>
      </p:nvGrpSpPr>
      <p:grpSpPr>
        <a:xfrm>
          <a:off x="0" y="0"/>
          <a:ext cx="0" cy="0"/>
          <a:chOff x="0" y="0"/>
          <a:chExt cx="0" cy="0"/>
        </a:xfrm>
      </p:grpSpPr>
      <p:pic>
        <p:nvPicPr>
          <p:cNvPr id="138" name="图片 137"/>
          <p:cNvPicPr>
            <a:picLocks noChangeAspect="1"/>
          </p:cNvPicPr>
          <p:nvPr userDrawn="1"/>
        </p:nvPicPr>
        <p:blipFill rotWithShape="1">
          <a:blip r:embed="rId2" cstate="print">
            <a:extLst>
              <a:ext uri="{28A0092B-C50C-407E-A947-70E740481C1C}">
                <a14:useLocalDpi xmlns:a14="http://schemas.microsoft.com/office/drawing/2010/main" val="0"/>
              </a:ext>
            </a:extLst>
          </a:blip>
          <a:srcRect l="9188" t="12241" b="6287"/>
          <a:stretch>
            <a:fillRect/>
          </a:stretch>
        </p:blipFill>
        <p:spPr>
          <a:xfrm>
            <a:off x="0" y="0"/>
            <a:ext cx="12192000" cy="6858000"/>
          </a:xfrm>
          <a:prstGeom prst="rect">
            <a:avLst/>
          </a:prstGeom>
        </p:spPr>
      </p:pic>
      <p:sp>
        <p:nvSpPr>
          <p:cNvPr id="31" name="梯形 30"/>
          <p:cNvSpPr/>
          <p:nvPr userDrawn="1"/>
        </p:nvSpPr>
        <p:spPr>
          <a:xfrm>
            <a:off x="0" y="0"/>
            <a:ext cx="12192000" cy="6858000"/>
          </a:xfrm>
          <a:prstGeom prst="trapezoid">
            <a:avLst>
              <a:gd name="adj" fmla="val 0"/>
            </a:avLst>
          </a:prstGeom>
          <a:gradFill flip="none" rotWithShape="1">
            <a:gsLst>
              <a:gs pos="87000">
                <a:srgbClr val="465ED3">
                  <a:lumMod val="88000"/>
                  <a:alpha val="95000"/>
                </a:srgbClr>
              </a:gs>
              <a:gs pos="0">
                <a:srgbClr val="18B7A0">
                  <a:lumMod val="95000"/>
                  <a:lumOff val="5000"/>
                  <a:alpha val="72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descr="图片包含 游戏机, 画&#10;&#10;描述已自动生成"/>
          <p:cNvPicPr>
            <a:picLocks noChangeAspect="1"/>
          </p:cNvPicPr>
          <p:nvPr userDrawn="1"/>
        </p:nvPicPr>
        <p:blipFill>
          <a:blip r:embed="rId3" cstate="print">
            <a:alphaModFix amt="11000"/>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rot="21342187">
            <a:off x="-377370" y="3275261"/>
            <a:ext cx="4070660" cy="3834203"/>
          </a:xfrm>
          <a:prstGeom prst="rect">
            <a:avLst/>
          </a:prstGeom>
          <a:noFill/>
        </p:spPr>
      </p:pic>
      <p:sp>
        <p:nvSpPr>
          <p:cNvPr id="63" name="文本占位符 36"/>
          <p:cNvSpPr>
            <a:spLocks noGrp="1"/>
          </p:cNvSpPr>
          <p:nvPr>
            <p:ph type="body" sz="quarter" idx="25" hasCustomPrompt="1"/>
          </p:nvPr>
        </p:nvSpPr>
        <p:spPr>
          <a:xfrm>
            <a:off x="4536689" y="1540684"/>
            <a:ext cx="2377916" cy="333940"/>
          </a:xfrm>
          <a:prstGeom prst="rect">
            <a:avLst/>
          </a:prstGeom>
        </p:spPr>
        <p:txBody>
          <a:bodyPr/>
          <a:lstStyle>
            <a:lvl1pPr marL="0" indent="0">
              <a:buFontTx/>
              <a:buNone/>
              <a:defRPr sz="2000">
                <a:solidFill>
                  <a:schemeClr val="bg1"/>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单击输入标题</a:t>
            </a:r>
          </a:p>
        </p:txBody>
      </p:sp>
      <p:sp>
        <p:nvSpPr>
          <p:cNvPr id="64" name="文本占位符 36"/>
          <p:cNvSpPr>
            <a:spLocks noGrp="1"/>
          </p:cNvSpPr>
          <p:nvPr>
            <p:ph type="body" sz="quarter" idx="26" hasCustomPrompt="1"/>
          </p:nvPr>
        </p:nvSpPr>
        <p:spPr>
          <a:xfrm>
            <a:off x="4536689" y="1885546"/>
            <a:ext cx="2377916" cy="297249"/>
          </a:xfrm>
          <a:prstGeom prst="rect">
            <a:avLst/>
          </a:prstGeom>
        </p:spPr>
        <p:txBody>
          <a:bodyPr/>
          <a:lstStyle>
            <a:lvl1pPr marL="0" indent="0">
              <a:buFontTx/>
              <a:buNone/>
              <a:defRPr sz="10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CLICK YOUR TITLECLICK YOUR TITLE</a:t>
            </a:r>
          </a:p>
        </p:txBody>
      </p:sp>
      <p:sp>
        <p:nvSpPr>
          <p:cNvPr id="67" name="文本占位符 36"/>
          <p:cNvSpPr>
            <a:spLocks noGrp="1"/>
          </p:cNvSpPr>
          <p:nvPr>
            <p:ph type="body" sz="quarter" idx="27" hasCustomPrompt="1"/>
          </p:nvPr>
        </p:nvSpPr>
        <p:spPr>
          <a:xfrm>
            <a:off x="8343969" y="1540684"/>
            <a:ext cx="2377916" cy="333940"/>
          </a:xfrm>
          <a:prstGeom prst="rect">
            <a:avLst/>
          </a:prstGeom>
        </p:spPr>
        <p:txBody>
          <a:bodyPr/>
          <a:lstStyle>
            <a:lvl1pPr marL="0" indent="0">
              <a:buFontTx/>
              <a:buNone/>
              <a:defRPr sz="2000">
                <a:solidFill>
                  <a:schemeClr val="bg1"/>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单击输入标题</a:t>
            </a:r>
          </a:p>
        </p:txBody>
      </p:sp>
      <p:sp>
        <p:nvSpPr>
          <p:cNvPr id="68" name="文本占位符 36"/>
          <p:cNvSpPr>
            <a:spLocks noGrp="1"/>
          </p:cNvSpPr>
          <p:nvPr>
            <p:ph type="body" sz="quarter" idx="28" hasCustomPrompt="1"/>
          </p:nvPr>
        </p:nvSpPr>
        <p:spPr>
          <a:xfrm>
            <a:off x="8343969" y="1885546"/>
            <a:ext cx="2377916" cy="297249"/>
          </a:xfrm>
          <a:prstGeom prst="rect">
            <a:avLst/>
          </a:prstGeom>
        </p:spPr>
        <p:txBody>
          <a:bodyPr/>
          <a:lstStyle>
            <a:lvl1pPr marL="0" indent="0">
              <a:buFontTx/>
              <a:buNone/>
              <a:defRPr sz="10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CLICK YOUR TITLECLICK YOUR TITLE</a:t>
            </a:r>
          </a:p>
        </p:txBody>
      </p:sp>
      <p:sp>
        <p:nvSpPr>
          <p:cNvPr id="69" name="文本占位符 21"/>
          <p:cNvSpPr>
            <a:spLocks noGrp="1"/>
          </p:cNvSpPr>
          <p:nvPr>
            <p:ph type="body" sz="quarter" idx="29" hasCustomPrompt="1"/>
          </p:nvPr>
        </p:nvSpPr>
        <p:spPr>
          <a:xfrm>
            <a:off x="7785194" y="1545247"/>
            <a:ext cx="514059" cy="421980"/>
          </a:xfrm>
          <a:prstGeom prst="rect">
            <a:avLst/>
          </a:prstGeom>
        </p:spPr>
        <p:txBody>
          <a:bodyPr anchor="b" anchorCtr="0"/>
          <a:lstStyle>
            <a:lvl1pPr marL="0" indent="0" algn="ctr" defTabSz="914400" rtl="0" eaLnBrk="1" latinLnBrk="0" hangingPunct="1">
              <a:lnSpc>
                <a:spcPct val="90000"/>
              </a:lnSpc>
              <a:spcBef>
                <a:spcPct val="0"/>
              </a:spcBef>
              <a:buNone/>
              <a:defRPr lang="zh-CN" altLang="en-US" sz="1800" kern="1200" dirty="0" smtClean="0">
                <a:solidFill>
                  <a:schemeClr val="bg1"/>
                </a:solidFill>
                <a:effectLst/>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4</a:t>
            </a:r>
            <a:endParaRPr lang="zh-CN" altLang="en-US" dirty="0"/>
          </a:p>
        </p:txBody>
      </p:sp>
      <p:sp>
        <p:nvSpPr>
          <p:cNvPr id="86" name="文本占位符 21"/>
          <p:cNvSpPr>
            <a:spLocks noGrp="1"/>
          </p:cNvSpPr>
          <p:nvPr>
            <p:ph type="body" sz="quarter" idx="42" hasCustomPrompt="1"/>
          </p:nvPr>
        </p:nvSpPr>
        <p:spPr>
          <a:xfrm>
            <a:off x="3977914" y="1551227"/>
            <a:ext cx="514059" cy="421980"/>
          </a:xfrm>
          <a:prstGeom prst="rect">
            <a:avLst/>
          </a:prstGeom>
        </p:spPr>
        <p:txBody>
          <a:bodyPr anchor="b" anchorCtr="0"/>
          <a:lstStyle>
            <a:lvl1pPr marL="0" indent="0" algn="ctr" defTabSz="914400" rtl="0" eaLnBrk="1" latinLnBrk="0" hangingPunct="1">
              <a:lnSpc>
                <a:spcPct val="90000"/>
              </a:lnSpc>
              <a:spcBef>
                <a:spcPct val="0"/>
              </a:spcBef>
              <a:buNone/>
              <a:defRPr lang="zh-CN" altLang="en-US" sz="1800" kern="1200" dirty="0" smtClean="0">
                <a:solidFill>
                  <a:schemeClr val="bg1"/>
                </a:solidFill>
                <a:effectLst/>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1</a:t>
            </a:r>
            <a:endParaRPr lang="zh-CN" altLang="en-US" dirty="0"/>
          </a:p>
        </p:txBody>
      </p:sp>
      <p:sp>
        <p:nvSpPr>
          <p:cNvPr id="88" name="文本占位符 36"/>
          <p:cNvSpPr>
            <a:spLocks noGrp="1"/>
          </p:cNvSpPr>
          <p:nvPr>
            <p:ph type="body" sz="quarter" idx="43" hasCustomPrompt="1"/>
          </p:nvPr>
        </p:nvSpPr>
        <p:spPr>
          <a:xfrm>
            <a:off x="4536689" y="3153252"/>
            <a:ext cx="2377916" cy="333940"/>
          </a:xfrm>
          <a:prstGeom prst="rect">
            <a:avLst/>
          </a:prstGeom>
        </p:spPr>
        <p:txBody>
          <a:bodyPr/>
          <a:lstStyle>
            <a:lvl1pPr marL="0" indent="0">
              <a:buFontTx/>
              <a:buNone/>
              <a:defRPr sz="2000">
                <a:solidFill>
                  <a:schemeClr val="bg1"/>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单击输入标题</a:t>
            </a:r>
          </a:p>
        </p:txBody>
      </p:sp>
      <p:sp>
        <p:nvSpPr>
          <p:cNvPr id="89" name="文本占位符 36"/>
          <p:cNvSpPr>
            <a:spLocks noGrp="1"/>
          </p:cNvSpPr>
          <p:nvPr>
            <p:ph type="body" sz="quarter" idx="44" hasCustomPrompt="1"/>
          </p:nvPr>
        </p:nvSpPr>
        <p:spPr>
          <a:xfrm>
            <a:off x="4536689" y="3498114"/>
            <a:ext cx="2377916" cy="297249"/>
          </a:xfrm>
          <a:prstGeom prst="rect">
            <a:avLst/>
          </a:prstGeom>
        </p:spPr>
        <p:txBody>
          <a:bodyPr/>
          <a:lstStyle>
            <a:lvl1pPr marL="0" indent="0">
              <a:buFontTx/>
              <a:buNone/>
              <a:defRPr sz="10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CLICK YOUR TITLECLICK YOUR TITLE</a:t>
            </a:r>
          </a:p>
        </p:txBody>
      </p:sp>
      <p:sp>
        <p:nvSpPr>
          <p:cNvPr id="91" name="文本占位符 36"/>
          <p:cNvSpPr>
            <a:spLocks noGrp="1"/>
          </p:cNvSpPr>
          <p:nvPr>
            <p:ph type="body" sz="quarter" idx="45" hasCustomPrompt="1"/>
          </p:nvPr>
        </p:nvSpPr>
        <p:spPr>
          <a:xfrm>
            <a:off x="8343969" y="3153252"/>
            <a:ext cx="2377916" cy="333940"/>
          </a:xfrm>
          <a:prstGeom prst="rect">
            <a:avLst/>
          </a:prstGeom>
        </p:spPr>
        <p:txBody>
          <a:bodyPr/>
          <a:lstStyle>
            <a:lvl1pPr marL="0" indent="0">
              <a:buFontTx/>
              <a:buNone/>
              <a:defRPr sz="2000">
                <a:solidFill>
                  <a:schemeClr val="bg1"/>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单击输入标题</a:t>
            </a:r>
          </a:p>
        </p:txBody>
      </p:sp>
      <p:sp>
        <p:nvSpPr>
          <p:cNvPr id="92" name="文本占位符 36"/>
          <p:cNvSpPr>
            <a:spLocks noGrp="1"/>
          </p:cNvSpPr>
          <p:nvPr>
            <p:ph type="body" sz="quarter" idx="46" hasCustomPrompt="1"/>
          </p:nvPr>
        </p:nvSpPr>
        <p:spPr>
          <a:xfrm>
            <a:off x="8343969" y="3498114"/>
            <a:ext cx="2377916" cy="297249"/>
          </a:xfrm>
          <a:prstGeom prst="rect">
            <a:avLst/>
          </a:prstGeom>
        </p:spPr>
        <p:txBody>
          <a:bodyPr/>
          <a:lstStyle>
            <a:lvl1pPr marL="0" indent="0">
              <a:buFontTx/>
              <a:buNone/>
              <a:defRPr sz="10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CLICK YOUR TITLECLICK YOUR TITLE</a:t>
            </a:r>
          </a:p>
        </p:txBody>
      </p:sp>
      <p:sp>
        <p:nvSpPr>
          <p:cNvPr id="93" name="文本占位符 21"/>
          <p:cNvSpPr>
            <a:spLocks noGrp="1"/>
          </p:cNvSpPr>
          <p:nvPr>
            <p:ph type="body" sz="quarter" idx="47" hasCustomPrompt="1"/>
          </p:nvPr>
        </p:nvSpPr>
        <p:spPr>
          <a:xfrm>
            <a:off x="7785194" y="3157815"/>
            <a:ext cx="514059" cy="421980"/>
          </a:xfrm>
          <a:prstGeom prst="rect">
            <a:avLst/>
          </a:prstGeom>
        </p:spPr>
        <p:txBody>
          <a:bodyPr anchor="b" anchorCtr="0"/>
          <a:lstStyle>
            <a:lvl1pPr marL="0" indent="0" algn="ctr" defTabSz="914400" rtl="0" eaLnBrk="1" latinLnBrk="0" hangingPunct="1">
              <a:lnSpc>
                <a:spcPct val="90000"/>
              </a:lnSpc>
              <a:spcBef>
                <a:spcPct val="0"/>
              </a:spcBef>
              <a:buNone/>
              <a:defRPr lang="zh-CN" altLang="en-US" sz="1800" kern="1200" dirty="0" smtClean="0">
                <a:solidFill>
                  <a:schemeClr val="bg1"/>
                </a:solidFill>
                <a:effectLst/>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5</a:t>
            </a:r>
            <a:endParaRPr lang="zh-CN" altLang="en-US" dirty="0"/>
          </a:p>
        </p:txBody>
      </p:sp>
      <p:sp>
        <p:nvSpPr>
          <p:cNvPr id="94" name="文本占位符 21"/>
          <p:cNvSpPr>
            <a:spLocks noGrp="1"/>
          </p:cNvSpPr>
          <p:nvPr>
            <p:ph type="body" sz="quarter" idx="48" hasCustomPrompt="1"/>
          </p:nvPr>
        </p:nvSpPr>
        <p:spPr>
          <a:xfrm>
            <a:off x="3977914" y="3163795"/>
            <a:ext cx="514059" cy="421980"/>
          </a:xfrm>
          <a:prstGeom prst="rect">
            <a:avLst/>
          </a:prstGeom>
        </p:spPr>
        <p:txBody>
          <a:bodyPr anchor="b" anchorCtr="0"/>
          <a:lstStyle>
            <a:lvl1pPr marL="0" indent="0" algn="ctr" defTabSz="914400" rtl="0" eaLnBrk="1" latinLnBrk="0" hangingPunct="1">
              <a:lnSpc>
                <a:spcPct val="90000"/>
              </a:lnSpc>
              <a:spcBef>
                <a:spcPct val="0"/>
              </a:spcBef>
              <a:buNone/>
              <a:defRPr lang="zh-CN" altLang="en-US" sz="1800" kern="1200" dirty="0" smtClean="0">
                <a:solidFill>
                  <a:schemeClr val="bg1"/>
                </a:solidFill>
                <a:effectLst/>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2</a:t>
            </a:r>
            <a:endParaRPr lang="zh-CN" altLang="en-US" dirty="0"/>
          </a:p>
        </p:txBody>
      </p:sp>
      <p:sp>
        <p:nvSpPr>
          <p:cNvPr id="96" name="文本占位符 36"/>
          <p:cNvSpPr>
            <a:spLocks noGrp="1"/>
          </p:cNvSpPr>
          <p:nvPr>
            <p:ph type="body" sz="quarter" idx="49" hasCustomPrompt="1"/>
          </p:nvPr>
        </p:nvSpPr>
        <p:spPr>
          <a:xfrm>
            <a:off x="4536689" y="4765820"/>
            <a:ext cx="2377916" cy="333940"/>
          </a:xfrm>
          <a:prstGeom prst="rect">
            <a:avLst/>
          </a:prstGeom>
        </p:spPr>
        <p:txBody>
          <a:bodyPr/>
          <a:lstStyle>
            <a:lvl1pPr marL="0" indent="0">
              <a:buFontTx/>
              <a:buNone/>
              <a:defRPr sz="2000">
                <a:solidFill>
                  <a:schemeClr val="bg1"/>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单击输入标题</a:t>
            </a:r>
          </a:p>
        </p:txBody>
      </p:sp>
      <p:sp>
        <p:nvSpPr>
          <p:cNvPr id="97" name="文本占位符 36"/>
          <p:cNvSpPr>
            <a:spLocks noGrp="1"/>
          </p:cNvSpPr>
          <p:nvPr>
            <p:ph type="body" sz="quarter" idx="50" hasCustomPrompt="1"/>
          </p:nvPr>
        </p:nvSpPr>
        <p:spPr>
          <a:xfrm>
            <a:off x="4536689" y="5110682"/>
            <a:ext cx="2377916" cy="297249"/>
          </a:xfrm>
          <a:prstGeom prst="rect">
            <a:avLst/>
          </a:prstGeom>
        </p:spPr>
        <p:txBody>
          <a:bodyPr/>
          <a:lstStyle>
            <a:lvl1pPr marL="0" indent="0">
              <a:buFontTx/>
              <a:buNone/>
              <a:defRPr sz="10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CLICK YOUR TITLECLICK YOUR TITLE</a:t>
            </a:r>
          </a:p>
        </p:txBody>
      </p:sp>
      <p:sp>
        <p:nvSpPr>
          <p:cNvPr id="99" name="文本占位符 36"/>
          <p:cNvSpPr>
            <a:spLocks noGrp="1"/>
          </p:cNvSpPr>
          <p:nvPr>
            <p:ph type="body" sz="quarter" idx="51" hasCustomPrompt="1"/>
          </p:nvPr>
        </p:nvSpPr>
        <p:spPr>
          <a:xfrm>
            <a:off x="8343969" y="4765820"/>
            <a:ext cx="2377916" cy="333940"/>
          </a:xfrm>
          <a:prstGeom prst="rect">
            <a:avLst/>
          </a:prstGeom>
        </p:spPr>
        <p:txBody>
          <a:bodyPr/>
          <a:lstStyle>
            <a:lvl1pPr marL="0" indent="0">
              <a:buFontTx/>
              <a:buNone/>
              <a:defRPr sz="2000">
                <a:solidFill>
                  <a:schemeClr val="bg1"/>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单击输入标题</a:t>
            </a:r>
          </a:p>
        </p:txBody>
      </p:sp>
      <p:sp>
        <p:nvSpPr>
          <p:cNvPr id="100" name="文本占位符 36"/>
          <p:cNvSpPr>
            <a:spLocks noGrp="1"/>
          </p:cNvSpPr>
          <p:nvPr>
            <p:ph type="body" sz="quarter" idx="52" hasCustomPrompt="1"/>
          </p:nvPr>
        </p:nvSpPr>
        <p:spPr>
          <a:xfrm>
            <a:off x="8343969" y="5110682"/>
            <a:ext cx="2377916" cy="297249"/>
          </a:xfrm>
          <a:prstGeom prst="rect">
            <a:avLst/>
          </a:prstGeom>
        </p:spPr>
        <p:txBody>
          <a:bodyPr/>
          <a:lstStyle>
            <a:lvl1pPr marL="0" indent="0">
              <a:buFontTx/>
              <a:buNone/>
              <a:defRPr sz="10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ltLang="zh-CN" dirty="0"/>
              <a:t>CLICK YOUR TITLECLICK YOUR TITLE</a:t>
            </a:r>
          </a:p>
        </p:txBody>
      </p:sp>
      <p:sp>
        <p:nvSpPr>
          <p:cNvPr id="101" name="文本占位符 21"/>
          <p:cNvSpPr>
            <a:spLocks noGrp="1"/>
          </p:cNvSpPr>
          <p:nvPr>
            <p:ph type="body" sz="quarter" idx="53" hasCustomPrompt="1"/>
          </p:nvPr>
        </p:nvSpPr>
        <p:spPr>
          <a:xfrm>
            <a:off x="7785194" y="4770383"/>
            <a:ext cx="514059" cy="421980"/>
          </a:xfrm>
          <a:prstGeom prst="rect">
            <a:avLst/>
          </a:prstGeom>
        </p:spPr>
        <p:txBody>
          <a:bodyPr anchor="b" anchorCtr="0"/>
          <a:lstStyle>
            <a:lvl1pPr marL="0" indent="0" algn="ctr" defTabSz="914400" rtl="0" eaLnBrk="1" latinLnBrk="0" hangingPunct="1">
              <a:lnSpc>
                <a:spcPct val="90000"/>
              </a:lnSpc>
              <a:spcBef>
                <a:spcPct val="0"/>
              </a:spcBef>
              <a:buNone/>
              <a:defRPr lang="zh-CN" altLang="en-US" sz="1800" kern="1200" dirty="0" smtClean="0">
                <a:solidFill>
                  <a:schemeClr val="bg1"/>
                </a:solidFill>
                <a:effectLst/>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6</a:t>
            </a:r>
            <a:endParaRPr lang="zh-CN" altLang="en-US" dirty="0"/>
          </a:p>
        </p:txBody>
      </p:sp>
      <p:sp>
        <p:nvSpPr>
          <p:cNvPr id="102" name="文本占位符 21"/>
          <p:cNvSpPr>
            <a:spLocks noGrp="1"/>
          </p:cNvSpPr>
          <p:nvPr>
            <p:ph type="body" sz="quarter" idx="54" hasCustomPrompt="1"/>
          </p:nvPr>
        </p:nvSpPr>
        <p:spPr>
          <a:xfrm>
            <a:off x="3977914" y="4776363"/>
            <a:ext cx="514059" cy="421980"/>
          </a:xfrm>
          <a:prstGeom prst="rect">
            <a:avLst/>
          </a:prstGeom>
        </p:spPr>
        <p:txBody>
          <a:bodyPr anchor="b" anchorCtr="0"/>
          <a:lstStyle>
            <a:lvl1pPr marL="0" indent="0" algn="ctr" defTabSz="914400" rtl="0" eaLnBrk="1" latinLnBrk="0" hangingPunct="1">
              <a:lnSpc>
                <a:spcPct val="90000"/>
              </a:lnSpc>
              <a:spcBef>
                <a:spcPct val="0"/>
              </a:spcBef>
              <a:buNone/>
              <a:defRPr lang="zh-CN" altLang="en-US" sz="1800" kern="1200" dirty="0" smtClean="0">
                <a:solidFill>
                  <a:schemeClr val="bg1"/>
                </a:solidFill>
                <a:effectLst/>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3</a:t>
            </a:r>
            <a:endParaRPr lang="zh-CN" altLang="en-US" dirty="0"/>
          </a:p>
        </p:txBody>
      </p:sp>
      <p:sp>
        <p:nvSpPr>
          <p:cNvPr id="4" name="竖排文字占位符 3"/>
          <p:cNvSpPr>
            <a:spLocks noGrp="1"/>
          </p:cNvSpPr>
          <p:nvPr>
            <p:ph type="body" orient="vert" sz="quarter" idx="55" hasCustomPrompt="1"/>
          </p:nvPr>
        </p:nvSpPr>
        <p:spPr>
          <a:xfrm>
            <a:off x="1184862" y="1046377"/>
            <a:ext cx="1279429" cy="2418614"/>
          </a:xfrm>
          <a:prstGeom prst="rect">
            <a:avLst/>
          </a:prstGeom>
        </p:spPr>
        <p:txBody>
          <a:bodyPr vert="eaVert"/>
          <a:lstStyle>
            <a:lvl1pPr marL="0" indent="0">
              <a:buFontTx/>
              <a:buNone/>
              <a:defRPr sz="72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目 录 </a:t>
            </a:r>
          </a:p>
        </p:txBody>
      </p:sp>
    </p:spTree>
    <p:extLst>
      <p:ext uri="{BB962C8B-B14F-4D97-AF65-F5344CB8AC3E}">
        <p14:creationId xmlns:p14="http://schemas.microsoft.com/office/powerpoint/2010/main" val="20266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2A82A1-379E-4FB7-8AD4-09CAE8A360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28379E-DB0E-4FE6-A52F-CCF0106D49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FB898A2-0D01-4D58-B8C8-56F73F7080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41C3DC-2BDC-435C-B730-70DE9CFFF234}" type="datetimeFigureOut">
              <a:rPr lang="zh-CN" altLang="en-US" smtClean="0"/>
              <a:t>2022/11/22</a:t>
            </a:fld>
            <a:endParaRPr lang="zh-CN" altLang="en-US"/>
          </a:p>
        </p:txBody>
      </p:sp>
      <p:sp>
        <p:nvSpPr>
          <p:cNvPr id="5" name="页脚占位符 4">
            <a:extLst>
              <a:ext uri="{FF2B5EF4-FFF2-40B4-BE49-F238E27FC236}">
                <a16:creationId xmlns:a16="http://schemas.microsoft.com/office/drawing/2014/main" id="{7C705C18-BFCB-420F-901B-2B393D66DD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5747FA4-FD75-4EC3-A00F-230F02E4C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B66A28-D819-4289-9B27-EF3EF42F2ADD}" type="slidenum">
              <a:rPr lang="zh-CN" altLang="en-US" smtClean="0"/>
              <a:t>‹#›</a:t>
            </a:fld>
            <a:endParaRPr lang="zh-CN" altLang="en-US"/>
          </a:p>
        </p:txBody>
      </p:sp>
    </p:spTree>
    <p:extLst>
      <p:ext uri="{BB962C8B-B14F-4D97-AF65-F5344CB8AC3E}">
        <p14:creationId xmlns:p14="http://schemas.microsoft.com/office/powerpoint/2010/main" val="1343336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12.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内容占位符 3" descr="过度页"/>
          <p:cNvPicPr>
            <a:picLocks noGrp="1" noChangeAspect="1"/>
          </p:cNvPicPr>
          <p:nvPr>
            <p:ph idx="1"/>
          </p:nvPr>
        </p:nvPicPr>
        <p:blipFill>
          <a:blip r:embed="rId2"/>
          <a:srcRect r="23826" b="20040"/>
          <a:stretch>
            <a:fillRect/>
          </a:stretch>
        </p:blipFill>
        <p:spPr>
          <a:xfrm>
            <a:off x="-635" y="-635"/>
            <a:ext cx="12192635" cy="6858635"/>
          </a:xfrm>
          <a:prstGeom prst="rect">
            <a:avLst/>
          </a:prstGeom>
        </p:spPr>
      </p:pic>
      <p:sp>
        <p:nvSpPr>
          <p:cNvPr id="15" name="标题 14"/>
          <p:cNvSpPr>
            <a:spLocks noGrp="1"/>
          </p:cNvSpPr>
          <p:nvPr>
            <p:ph type="title"/>
          </p:nvPr>
        </p:nvSpPr>
        <p:spPr>
          <a:xfrm>
            <a:off x="221382" y="1933734"/>
            <a:ext cx="11800572" cy="1021222"/>
          </a:xfrm>
        </p:spPr>
        <p:txBody>
          <a:bodyPr>
            <a:normAutofit/>
          </a:bodyPr>
          <a:lstStyle/>
          <a:p>
            <a:pPr algn="ctr"/>
            <a:r>
              <a:rPr lang="en-US" altLang="zh-CN" sz="3600" dirty="0" err="1"/>
              <a:t>Yosys</a:t>
            </a:r>
            <a:r>
              <a:rPr lang="en-US" altLang="zh-CN" sz="3600" dirty="0"/>
              <a:t> Data Model Introduction</a:t>
            </a:r>
            <a:br>
              <a:rPr lang="en-US" altLang="zh-CN" sz="3600" dirty="0"/>
            </a:br>
            <a:endParaRPr lang="zh-CN" altLang="en-US" sz="1800" dirty="0"/>
          </a:p>
        </p:txBody>
      </p:sp>
      <p:sp>
        <p:nvSpPr>
          <p:cNvPr id="17" name="文本占位符 16"/>
          <p:cNvSpPr>
            <a:spLocks noGrp="1"/>
          </p:cNvSpPr>
          <p:nvPr>
            <p:ph type="body" sz="quarter" idx="26"/>
          </p:nvPr>
        </p:nvSpPr>
        <p:spPr>
          <a:xfrm>
            <a:off x="8171849" y="3739669"/>
            <a:ext cx="2967790" cy="778084"/>
          </a:xfrm>
        </p:spPr>
        <p:txBody>
          <a:bodyPr>
            <a:normAutofit/>
          </a:bodyPr>
          <a:lstStyle/>
          <a:p>
            <a:endParaRPr lang="en-US" altLang="zh-CN" dirty="0"/>
          </a:p>
          <a:p>
            <a:r>
              <a:rPr lang="en-US" altLang="zh-CN" dirty="0"/>
              <a:t>2022.11.22</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25"/>
          </p:nvPr>
        </p:nvSpPr>
        <p:spPr>
          <a:xfrm>
            <a:off x="1976098" y="1390903"/>
            <a:ext cx="6530903" cy="3448225"/>
          </a:xfrm>
        </p:spPr>
        <p:txBody>
          <a:bodyPr>
            <a:normAutofit/>
          </a:bodyPr>
          <a:lstStyle/>
          <a:p>
            <a:pPr marL="342900" indent="-342900">
              <a:spcBef>
                <a:spcPts val="1800"/>
              </a:spcBef>
              <a:spcAft>
                <a:spcPts val="1800"/>
              </a:spcAft>
              <a:buFont typeface="Wingdings" panose="05000000000000000000" pitchFamily="2" charset="2"/>
              <a:buChar char="Ø"/>
            </a:pPr>
            <a:r>
              <a:rPr kumimoji="1" lang="en-US" altLang="zh-CN" sz="2800" dirty="0" err="1"/>
              <a:t>Verific</a:t>
            </a:r>
            <a:r>
              <a:rPr kumimoji="1" lang="en-US" altLang="zh-CN" sz="2800" dirty="0"/>
              <a:t> Tool Introduction</a:t>
            </a:r>
          </a:p>
          <a:p>
            <a:pPr marL="342900" indent="-342900">
              <a:spcBef>
                <a:spcPts val="1800"/>
              </a:spcBef>
              <a:spcAft>
                <a:spcPts val="1800"/>
              </a:spcAft>
              <a:buFont typeface="Wingdings" panose="05000000000000000000" pitchFamily="2" charset="2"/>
              <a:buChar char="Ø"/>
            </a:pPr>
            <a:r>
              <a:rPr kumimoji="1" lang="en-US" altLang="zh-CN" sz="2800" dirty="0" err="1"/>
              <a:t>Yosys</a:t>
            </a:r>
            <a:r>
              <a:rPr kumimoji="1" lang="en-US" altLang="zh-CN" sz="2800" dirty="0"/>
              <a:t> Tool Introduction</a:t>
            </a:r>
            <a:endParaRPr kumimoji="1" lang="zh-CN" altLang="en-US" sz="2800" dirty="0"/>
          </a:p>
          <a:p>
            <a:pPr marL="342900" indent="-342900">
              <a:spcBef>
                <a:spcPts val="1800"/>
              </a:spcBef>
              <a:spcAft>
                <a:spcPts val="1800"/>
              </a:spcAft>
              <a:buFont typeface="Wingdings" panose="05000000000000000000" pitchFamily="2" charset="2"/>
              <a:buChar char="Ø"/>
            </a:pPr>
            <a:r>
              <a:rPr kumimoji="1" lang="en-US" altLang="zh-CN" sz="2800" dirty="0" err="1"/>
              <a:t>Yosys</a:t>
            </a:r>
            <a:r>
              <a:rPr kumimoji="1" lang="en-US" altLang="zh-CN" sz="2800" dirty="0"/>
              <a:t> Data Model</a:t>
            </a:r>
          </a:p>
          <a:p>
            <a:pPr marL="342900" indent="-342900">
              <a:spcBef>
                <a:spcPts val="1800"/>
              </a:spcBef>
              <a:spcAft>
                <a:spcPts val="1800"/>
              </a:spcAft>
              <a:buFont typeface="Wingdings" panose="05000000000000000000" pitchFamily="2" charset="2"/>
              <a:buChar char="Ø"/>
            </a:pPr>
            <a:r>
              <a:rPr kumimoji="1" lang="en-US" altLang="zh-CN" sz="2800" dirty="0"/>
              <a:t>Core Data Model</a:t>
            </a:r>
          </a:p>
          <a:p>
            <a:endParaRPr kumimoji="1" lang="zh-CN"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3"/>
          </p:nvPr>
        </p:nvSpPr>
        <p:spPr>
          <a:xfrm>
            <a:off x="1209676" y="339351"/>
            <a:ext cx="10499852" cy="374788"/>
          </a:xfrm>
        </p:spPr>
        <p:txBody>
          <a:bodyPr/>
          <a:lstStyle/>
          <a:p>
            <a:r>
              <a:rPr lang="en-US" altLang="zh-CN" dirty="0" err="1"/>
              <a:t>Verific</a:t>
            </a:r>
            <a:r>
              <a:rPr lang="en-US" altLang="zh-CN" dirty="0"/>
              <a:t> Tool Introduction-Parse &amp; Elaboration</a:t>
            </a:r>
            <a:endParaRPr lang="zh-CN" altLang="en-US" dirty="0"/>
          </a:p>
        </p:txBody>
      </p:sp>
      <p:sp>
        <p:nvSpPr>
          <p:cNvPr id="14" name="文本占位符 13"/>
          <p:cNvSpPr>
            <a:spLocks noGrp="1"/>
          </p:cNvSpPr>
          <p:nvPr>
            <p:ph type="body" sz="quarter" idx="15"/>
          </p:nvPr>
        </p:nvSpPr>
        <p:spPr>
          <a:xfrm>
            <a:off x="879471" y="926394"/>
            <a:ext cx="10433057" cy="3052332"/>
          </a:xfrm>
        </p:spPr>
        <p:txBody>
          <a:bodyPr/>
          <a:lstStyle/>
          <a:p>
            <a:pPr>
              <a:lnSpc>
                <a:spcPct val="150000"/>
              </a:lnSpc>
            </a:pPr>
            <a:r>
              <a:rPr lang="en-US" altLang="zh-CN" dirty="0" err="1">
                <a:cs typeface="Times New Roman" panose="02020603050405020304" pitchFamily="18" charset="0"/>
              </a:rPr>
              <a:t>Verific</a:t>
            </a:r>
            <a:r>
              <a:rPr lang="en-US" altLang="zh-CN" dirty="0">
                <a:cs typeface="Times New Roman" panose="02020603050405020304" pitchFamily="18" charset="0"/>
              </a:rPr>
              <a:t> provides the parser platforms of  System-Verilog, VHDL &amp; UPF</a:t>
            </a:r>
          </a:p>
          <a:p>
            <a:pPr>
              <a:lnSpc>
                <a:spcPct val="150000"/>
              </a:lnSpc>
              <a:buFont typeface="Wingdings" panose="05000000000000000000" pitchFamily="2" charset="2"/>
              <a:buChar char="Ø"/>
            </a:pPr>
            <a:r>
              <a:rPr lang="en-US" altLang="zh-CN" sz="1400" dirty="0">
                <a:cs typeface="Times New Roman" panose="02020603050405020304" pitchFamily="18" charset="0"/>
              </a:rPr>
              <a:t>“</a:t>
            </a:r>
            <a:r>
              <a:rPr lang="en-US" altLang="zh-CN" sz="1400" dirty="0" err="1">
                <a:cs typeface="Times New Roman" panose="02020603050405020304" pitchFamily="18" charset="0"/>
              </a:rPr>
              <a:t>Lex&amp;Yacc</a:t>
            </a:r>
            <a:r>
              <a:rPr lang="en-US" altLang="zh-CN" sz="1400" dirty="0">
                <a:cs typeface="Times New Roman" panose="02020603050405020304" pitchFamily="18" charset="0"/>
              </a:rPr>
              <a:t>” is used to do System-Verilog &amp; VHDL parse and generate an AST </a:t>
            </a:r>
          </a:p>
          <a:p>
            <a:pPr>
              <a:lnSpc>
                <a:spcPct val="150000"/>
              </a:lnSpc>
            </a:pPr>
            <a:r>
              <a:rPr lang="en-US" altLang="zh-CN" dirty="0" err="1">
                <a:cs typeface="Times New Roman" panose="02020603050405020304" pitchFamily="18" charset="0"/>
              </a:rPr>
              <a:t>Verific</a:t>
            </a:r>
            <a:r>
              <a:rPr lang="en-US" altLang="zh-CN" dirty="0">
                <a:cs typeface="Times New Roman" panose="02020603050405020304" pitchFamily="18" charset="0"/>
              </a:rPr>
              <a:t> provides the two elaborators , one is called “static elaborator” and another is called “RTL elaborator” which is also called “synthesis”</a:t>
            </a:r>
          </a:p>
          <a:p>
            <a:pPr>
              <a:lnSpc>
                <a:spcPct val="150000"/>
              </a:lnSpc>
              <a:buFont typeface="Wingdings" panose="05000000000000000000" pitchFamily="2" charset="2"/>
              <a:buChar char="Ø"/>
            </a:pPr>
            <a:r>
              <a:rPr lang="en-US" altLang="zh-CN" sz="1400" dirty="0">
                <a:cs typeface="Times New Roman" panose="02020603050405020304" pitchFamily="18" charset="0"/>
              </a:rPr>
              <a:t>static elaborator is used to do followings, top module extraction, instance hierarchical tree creation, the parameters of various modules propagation, Generate construct and array instance elaboration,  hierarchical references resolved and so on</a:t>
            </a:r>
          </a:p>
          <a:p>
            <a:pPr marL="0" indent="0">
              <a:lnSpc>
                <a:spcPct val="150000"/>
              </a:lnSpc>
              <a:buNone/>
            </a:pPr>
            <a:endParaRPr lang="en-US" altLang="zh-CN" sz="2000" dirty="0"/>
          </a:p>
        </p:txBody>
      </p:sp>
      <p:grpSp>
        <p:nvGrpSpPr>
          <p:cNvPr id="2" name="组合 1">
            <a:extLst>
              <a:ext uri="{FF2B5EF4-FFF2-40B4-BE49-F238E27FC236}">
                <a16:creationId xmlns:a16="http://schemas.microsoft.com/office/drawing/2014/main" id="{DDC6BC1D-BC81-9885-81A0-DEAF6FC3A4D9}"/>
              </a:ext>
            </a:extLst>
          </p:cNvPr>
          <p:cNvGrpSpPr/>
          <p:nvPr/>
        </p:nvGrpSpPr>
        <p:grpSpPr>
          <a:xfrm>
            <a:off x="1879777" y="4384939"/>
            <a:ext cx="9829751" cy="2209914"/>
            <a:chOff x="1879777" y="4384939"/>
            <a:chExt cx="9829751" cy="2209914"/>
          </a:xfrm>
        </p:grpSpPr>
        <p:pic>
          <p:nvPicPr>
            <p:cNvPr id="3" name="图片 2" descr="文本&#10;&#10;描述已自动生成">
              <a:extLst>
                <a:ext uri="{FF2B5EF4-FFF2-40B4-BE49-F238E27FC236}">
                  <a16:creationId xmlns:a16="http://schemas.microsoft.com/office/drawing/2014/main" id="{9798245F-B4BD-4B6A-8D93-3E638107B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9777" y="4442092"/>
              <a:ext cx="1384371" cy="1962251"/>
            </a:xfrm>
            <a:prstGeom prst="rect">
              <a:avLst/>
            </a:prstGeom>
          </p:spPr>
        </p:pic>
        <p:pic>
          <p:nvPicPr>
            <p:cNvPr id="5" name="图片 4" descr="图片包含 形状&#10;&#10;描述已自动生成">
              <a:extLst>
                <a:ext uri="{FF2B5EF4-FFF2-40B4-BE49-F238E27FC236}">
                  <a16:creationId xmlns:a16="http://schemas.microsoft.com/office/drawing/2014/main" id="{C6B1390C-DC46-44BE-9DDA-80E2EB4C4E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5699" y="4384939"/>
              <a:ext cx="1924149" cy="2190863"/>
            </a:xfrm>
            <a:prstGeom prst="rect">
              <a:avLst/>
            </a:prstGeom>
          </p:spPr>
        </p:pic>
        <p:pic>
          <p:nvPicPr>
            <p:cNvPr id="7" name="图片 6" descr="图示&#10;&#10;描述已自动生成">
              <a:extLst>
                <a:ext uri="{FF2B5EF4-FFF2-40B4-BE49-F238E27FC236}">
                  <a16:creationId xmlns:a16="http://schemas.microsoft.com/office/drawing/2014/main" id="{5BA9DF8D-AC91-45D0-AA6D-B1EDD09B22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3492" y="4442092"/>
              <a:ext cx="3626036" cy="2152761"/>
            </a:xfrm>
            <a:prstGeom prst="rect">
              <a:avLst/>
            </a:prstGeom>
          </p:spPr>
        </p:pic>
        <p:cxnSp>
          <p:nvCxnSpPr>
            <p:cNvPr id="9" name="直接箭头连接符 8">
              <a:extLst>
                <a:ext uri="{FF2B5EF4-FFF2-40B4-BE49-F238E27FC236}">
                  <a16:creationId xmlns:a16="http://schemas.microsoft.com/office/drawing/2014/main" id="{8B2CF8EA-6E32-46A4-9AFA-022E785583DB}"/>
                </a:ext>
              </a:extLst>
            </p:cNvPr>
            <p:cNvCxnSpPr/>
            <p:nvPr/>
          </p:nvCxnSpPr>
          <p:spPr>
            <a:xfrm>
              <a:off x="3544584" y="5423217"/>
              <a:ext cx="8424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5E5B7949-E481-4F43-A29D-4624F3D7485F}"/>
                </a:ext>
              </a:extLst>
            </p:cNvPr>
            <p:cNvSpPr txBox="1"/>
            <p:nvPr/>
          </p:nvSpPr>
          <p:spPr>
            <a:xfrm>
              <a:off x="3565133" y="5116530"/>
              <a:ext cx="873303" cy="350160"/>
            </a:xfrm>
            <a:prstGeom prst="rect">
              <a:avLst/>
            </a:prstGeom>
            <a:noFill/>
          </p:spPr>
          <p:txBody>
            <a:bodyPr wrap="square" rtlCol="0">
              <a:spAutoFit/>
            </a:bodyPr>
            <a:lstStyle/>
            <a:p>
              <a:pPr algn="l">
                <a:lnSpc>
                  <a:spcPts val="2300"/>
                </a:lnSpc>
                <a:buSzPct val="60000"/>
              </a:pPr>
              <a:r>
                <a:rPr lang="en-US" altLang="zh-CN" sz="1200" dirty="0">
                  <a:solidFill>
                    <a:schemeClr val="tx1">
                      <a:lumMod val="65000"/>
                      <a:lumOff val="35000"/>
                    </a:schemeClr>
                  </a:solidFill>
                  <a:latin typeface="+mj-ea"/>
                  <a:ea typeface="+mj-ea"/>
                  <a:sym typeface="Arial" panose="020B0604020202020204" pitchFamily="34" charset="0"/>
                </a:rPr>
                <a:t>Parse</a:t>
              </a:r>
              <a:endParaRPr lang="zh-CN" altLang="en-US" sz="1200" dirty="0">
                <a:solidFill>
                  <a:schemeClr val="tx1">
                    <a:lumMod val="65000"/>
                    <a:lumOff val="35000"/>
                  </a:schemeClr>
                </a:solidFill>
                <a:latin typeface="+mj-ea"/>
                <a:ea typeface="+mj-ea"/>
                <a:sym typeface="Arial" panose="020B0604020202020204" pitchFamily="34" charset="0"/>
              </a:endParaRPr>
            </a:p>
          </p:txBody>
        </p:sp>
        <p:cxnSp>
          <p:nvCxnSpPr>
            <p:cNvPr id="12" name="直接箭头连接符 11">
              <a:extLst>
                <a:ext uri="{FF2B5EF4-FFF2-40B4-BE49-F238E27FC236}">
                  <a16:creationId xmlns:a16="http://schemas.microsoft.com/office/drawing/2014/main" id="{3CAF416D-848E-40ED-9150-D2E06099EF64}"/>
                </a:ext>
              </a:extLst>
            </p:cNvPr>
            <p:cNvCxnSpPr/>
            <p:nvPr/>
          </p:nvCxnSpPr>
          <p:spPr>
            <a:xfrm>
              <a:off x="6842589" y="5301465"/>
              <a:ext cx="15420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D5FE087-DC3E-499C-956D-DBAD1DFD3818}"/>
                </a:ext>
              </a:extLst>
            </p:cNvPr>
            <p:cNvSpPr txBox="1"/>
            <p:nvPr/>
          </p:nvSpPr>
          <p:spPr>
            <a:xfrm>
              <a:off x="6842589" y="5245091"/>
              <a:ext cx="1674686" cy="356251"/>
            </a:xfrm>
            <a:prstGeom prst="rect">
              <a:avLst/>
            </a:prstGeom>
            <a:noFill/>
          </p:spPr>
          <p:txBody>
            <a:bodyPr wrap="square" rtlCol="0">
              <a:spAutoFit/>
            </a:bodyPr>
            <a:lstStyle/>
            <a:p>
              <a:pPr algn="l">
                <a:lnSpc>
                  <a:spcPts val="2300"/>
                </a:lnSpc>
                <a:buSzPct val="60000"/>
              </a:pPr>
              <a:r>
                <a:rPr lang="en-US" altLang="zh-CN" sz="1400" dirty="0">
                  <a:solidFill>
                    <a:schemeClr val="tx1">
                      <a:lumMod val="65000"/>
                      <a:lumOff val="35000"/>
                    </a:schemeClr>
                  </a:solidFill>
                  <a:latin typeface="+mj-ea"/>
                  <a:ea typeface="+mj-ea"/>
                  <a:sym typeface="Arial" panose="020B0604020202020204" pitchFamily="34" charset="0"/>
                </a:rPr>
                <a:t>static elaborate</a:t>
              </a:r>
              <a:endParaRPr lang="zh-CN" altLang="en-US" sz="1400" dirty="0">
                <a:solidFill>
                  <a:schemeClr val="tx1">
                    <a:lumMod val="65000"/>
                    <a:lumOff val="35000"/>
                  </a:schemeClr>
                </a:solidFill>
                <a:latin typeface="+mj-ea"/>
                <a:ea typeface="+mj-ea"/>
                <a:sym typeface="Arial" panose="020B0604020202020204" pitchFamily="34" charset="0"/>
              </a:endParaRPr>
            </a:p>
          </p:txBody>
        </p:sp>
      </p:grpSp>
    </p:spTree>
    <p:extLst>
      <p:ext uri="{BB962C8B-B14F-4D97-AF65-F5344CB8AC3E}">
        <p14:creationId xmlns:p14="http://schemas.microsoft.com/office/powerpoint/2010/main" val="763024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arn(inVertic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 calcmode="lin" valueType="num">
                                      <p:cBhvr additive="base">
                                        <p:cTn id="12"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
                                            <p:txEl>
                                              <p:pRg st="1" end="1"/>
                                            </p:txEl>
                                          </p:spTgt>
                                        </p:tgtEl>
                                        <p:attrNameLst>
                                          <p:attrName>style.visibility</p:attrName>
                                        </p:attrNameLst>
                                      </p:cBhvr>
                                      <p:to>
                                        <p:strVal val="visible"/>
                                      </p:to>
                                    </p:set>
                                    <p:anim calcmode="lin" valueType="num">
                                      <p:cBhvr additive="base">
                                        <p:cTn id="18"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
                                            <p:txEl>
                                              <p:pRg st="2" end="2"/>
                                            </p:txEl>
                                          </p:spTgt>
                                        </p:tgtEl>
                                        <p:attrNameLst>
                                          <p:attrName>style.visibility</p:attrName>
                                        </p:attrNameLst>
                                      </p:cBhvr>
                                      <p:to>
                                        <p:strVal val="visible"/>
                                      </p:to>
                                    </p:set>
                                    <p:anim calcmode="lin" valueType="num">
                                      <p:cBhvr additive="base">
                                        <p:cTn id="24"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
                                            <p:txEl>
                                              <p:pRg st="3" end="3"/>
                                            </p:txEl>
                                          </p:spTgt>
                                        </p:tgtEl>
                                        <p:attrNameLst>
                                          <p:attrName>style.visibility</p:attrName>
                                        </p:attrNameLst>
                                      </p:cBhvr>
                                      <p:to>
                                        <p:strVal val="visible"/>
                                      </p:to>
                                    </p:set>
                                    <p:anim calcmode="lin" valueType="num">
                                      <p:cBhvr additive="base">
                                        <p:cTn id="30"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3"/>
          </p:nvPr>
        </p:nvSpPr>
        <p:spPr/>
        <p:txBody>
          <a:bodyPr/>
          <a:lstStyle/>
          <a:p>
            <a:r>
              <a:rPr lang="en-US" altLang="zh-CN" dirty="0" err="1"/>
              <a:t>Verific</a:t>
            </a:r>
            <a:r>
              <a:rPr lang="en-US" altLang="zh-CN" dirty="0"/>
              <a:t> Tool Introduction-Parse &amp; Elaboration</a:t>
            </a:r>
          </a:p>
        </p:txBody>
      </p:sp>
      <p:sp>
        <p:nvSpPr>
          <p:cNvPr id="14" name="文本占位符 13"/>
          <p:cNvSpPr>
            <a:spLocks noGrp="1"/>
          </p:cNvSpPr>
          <p:nvPr>
            <p:ph type="body" sz="quarter" idx="15"/>
          </p:nvPr>
        </p:nvSpPr>
        <p:spPr>
          <a:xfrm>
            <a:off x="277105" y="1169557"/>
            <a:ext cx="11432423" cy="5107953"/>
          </a:xfrm>
        </p:spPr>
        <p:txBody>
          <a:bodyPr/>
          <a:lstStyle/>
          <a:p>
            <a:pPr>
              <a:lnSpc>
                <a:spcPct val="150000"/>
              </a:lnSpc>
            </a:pPr>
            <a:r>
              <a:rPr lang="en-US" altLang="zh-CN" dirty="0"/>
              <a:t>Verilog element can be classified into synthesizable and unsynthesizable </a:t>
            </a:r>
          </a:p>
          <a:p>
            <a:pPr>
              <a:lnSpc>
                <a:spcPct val="150000"/>
              </a:lnSpc>
              <a:buFont typeface="Wingdings" panose="05000000000000000000" pitchFamily="2" charset="2"/>
              <a:buChar char="Ø"/>
            </a:pPr>
            <a:r>
              <a:rPr lang="en-US" altLang="zh-CN" sz="1400" dirty="0"/>
              <a:t>The unsynthesizable includes: initial block, delay, UDP, event, fork…join, </a:t>
            </a:r>
            <a:r>
              <a:rPr lang="en-US" altLang="zh-CN" sz="1400" dirty="0">
                <a:solidFill>
                  <a:schemeClr val="tx1">
                    <a:lumMod val="95000"/>
                    <a:lumOff val="5000"/>
                  </a:schemeClr>
                </a:solidFill>
              </a:rPr>
              <a:t>multi-edges, multi-drivers </a:t>
            </a:r>
            <a:r>
              <a:rPr lang="en-US" altLang="zh-CN" sz="1400" dirty="0"/>
              <a:t>and so on;</a:t>
            </a:r>
          </a:p>
          <a:p>
            <a:pPr>
              <a:lnSpc>
                <a:spcPct val="150000"/>
              </a:lnSpc>
              <a:buFont typeface="Wingdings" panose="05000000000000000000" pitchFamily="2" charset="2"/>
              <a:buChar char="Ø"/>
            </a:pPr>
            <a:r>
              <a:rPr lang="en-US" altLang="zh-CN" sz="1400" dirty="0"/>
              <a:t>The synthesizable includes: always, assign, begin…end, reg, wire, input, output, </a:t>
            </a:r>
            <a:r>
              <a:rPr lang="en-US" altLang="zh-CN" sz="1400" dirty="0" err="1"/>
              <a:t>posedge</a:t>
            </a:r>
            <a:r>
              <a:rPr lang="en-US" altLang="zh-CN" sz="1400" dirty="0"/>
              <a:t>,  </a:t>
            </a:r>
            <a:r>
              <a:rPr lang="en-US" altLang="zh-CN" sz="1400" dirty="0" err="1"/>
              <a:t>negedge</a:t>
            </a:r>
            <a:r>
              <a:rPr lang="en-US" altLang="zh-CN" sz="1400" dirty="0"/>
              <a:t>,  integer,  function, case, </a:t>
            </a:r>
            <a:r>
              <a:rPr lang="en-US" altLang="zh-CN" sz="1400" dirty="0">
                <a:solidFill>
                  <a:srgbClr val="FF0000"/>
                </a:solidFill>
              </a:rPr>
              <a:t>tri, </a:t>
            </a:r>
            <a:r>
              <a:rPr lang="en-US" altLang="zh-CN" sz="1400" dirty="0" err="1">
                <a:solidFill>
                  <a:srgbClr val="FF0000"/>
                </a:solidFill>
              </a:rPr>
              <a:t>triand</a:t>
            </a:r>
            <a:r>
              <a:rPr lang="en-US" altLang="zh-CN" sz="1400" dirty="0">
                <a:solidFill>
                  <a:srgbClr val="FF0000"/>
                </a:solidFill>
              </a:rPr>
              <a:t>, </a:t>
            </a:r>
            <a:r>
              <a:rPr lang="en-US" altLang="zh-CN" sz="1400" dirty="0" err="1">
                <a:solidFill>
                  <a:srgbClr val="FF0000"/>
                </a:solidFill>
              </a:rPr>
              <a:t>trior</a:t>
            </a:r>
            <a:r>
              <a:rPr lang="en-US" altLang="zh-CN" sz="1400" dirty="0">
                <a:solidFill>
                  <a:srgbClr val="FF0000"/>
                </a:solidFill>
              </a:rPr>
              <a:t>, buffif0, buffif1, </a:t>
            </a:r>
            <a:r>
              <a:rPr lang="en-US" altLang="zh-CN" sz="1400" dirty="0"/>
              <a:t>and, or, not, </a:t>
            </a:r>
            <a:r>
              <a:rPr lang="en-US" altLang="zh-CN" sz="1400" dirty="0" err="1"/>
              <a:t>buf</a:t>
            </a:r>
            <a:r>
              <a:rPr lang="en-US" altLang="zh-CN" sz="1400" dirty="0"/>
              <a:t>, </a:t>
            </a:r>
            <a:r>
              <a:rPr lang="en-US" altLang="zh-CN" sz="1400" dirty="0" err="1"/>
              <a:t>xnor</a:t>
            </a:r>
            <a:r>
              <a:rPr lang="en-US" altLang="zh-CN" sz="1400" dirty="0"/>
              <a:t>, nor, </a:t>
            </a:r>
            <a:r>
              <a:rPr lang="en-US" altLang="zh-CN" sz="1400" dirty="0" err="1"/>
              <a:t>xor</a:t>
            </a:r>
            <a:r>
              <a:rPr lang="en-US" altLang="zh-CN" sz="1400" dirty="0"/>
              <a:t> and so on  </a:t>
            </a:r>
          </a:p>
          <a:p>
            <a:pPr>
              <a:lnSpc>
                <a:spcPct val="150000"/>
              </a:lnSpc>
            </a:pPr>
            <a:r>
              <a:rPr lang="en-US" altLang="zh-CN" dirty="0"/>
              <a:t>RTL elaboration is used to synthesize RTL to Netlist using </a:t>
            </a:r>
            <a:r>
              <a:rPr lang="en-US" altLang="zh-CN" dirty="0" err="1"/>
              <a:t>Verific</a:t>
            </a:r>
            <a:r>
              <a:rPr lang="en-US" altLang="zh-CN" dirty="0"/>
              <a:t> built-in logic synthesis library </a:t>
            </a:r>
          </a:p>
          <a:p>
            <a:pPr>
              <a:lnSpc>
                <a:spcPct val="150000"/>
              </a:lnSpc>
              <a:buFont typeface="Wingdings" panose="05000000000000000000" pitchFamily="2" charset="2"/>
              <a:buChar char="Ø"/>
            </a:pPr>
            <a:r>
              <a:rPr lang="en-US" altLang="zh-CN" sz="1400" dirty="0"/>
              <a:t>The netlist including following objects at least: ports(</a:t>
            </a:r>
            <a:r>
              <a:rPr lang="en-US" altLang="zh-CN" sz="1400" dirty="0" err="1"/>
              <a:t>portbus</a:t>
            </a:r>
            <a:r>
              <a:rPr lang="en-US" altLang="zh-CN" sz="1400" dirty="0"/>
              <a:t>), nets(</a:t>
            </a:r>
            <a:r>
              <a:rPr lang="en-US" altLang="zh-CN" sz="1400" dirty="0" err="1"/>
              <a:t>netbus</a:t>
            </a:r>
            <a:r>
              <a:rPr lang="en-US" altLang="zh-CN" sz="1400" dirty="0"/>
              <a:t>), instances,  operators, prims, </a:t>
            </a:r>
            <a:r>
              <a:rPr lang="en-US" altLang="zh-CN" sz="1400" dirty="0" err="1"/>
              <a:t>fsms</a:t>
            </a:r>
            <a:r>
              <a:rPr lang="en-US" altLang="zh-CN" sz="1400" dirty="0"/>
              <a:t>, parameters and reference.</a:t>
            </a:r>
          </a:p>
          <a:p>
            <a:pPr>
              <a:lnSpc>
                <a:spcPct val="150000"/>
              </a:lnSpc>
              <a:buFont typeface="Wingdings" panose="05000000000000000000" pitchFamily="2" charset="2"/>
              <a:buChar char="Ø"/>
            </a:pPr>
            <a:r>
              <a:rPr lang="en-US" altLang="zh-CN" sz="1400" dirty="0"/>
              <a:t> Operators provide the complicated operations : </a:t>
            </a:r>
            <a:r>
              <a:rPr lang="en-US" altLang="zh-CN" sz="1400" dirty="0" err="1"/>
              <a:t>OperAdder</a:t>
            </a:r>
            <a:r>
              <a:rPr lang="en-US" altLang="zh-CN" sz="1400" dirty="0"/>
              <a:t>, </a:t>
            </a:r>
            <a:r>
              <a:rPr lang="en-US" altLang="zh-CN" sz="1400" dirty="0" err="1"/>
              <a:t>OperLessThan</a:t>
            </a:r>
            <a:r>
              <a:rPr lang="en-US" altLang="zh-CN" sz="1400" dirty="0"/>
              <a:t>, </a:t>
            </a:r>
            <a:r>
              <a:rPr lang="en-US" altLang="zh-CN" sz="1400" dirty="0" err="1"/>
              <a:t>OperDiv</a:t>
            </a:r>
            <a:r>
              <a:rPr lang="en-US" altLang="zh-CN" sz="1400" dirty="0"/>
              <a:t>, </a:t>
            </a:r>
            <a:r>
              <a:rPr lang="en-US" altLang="zh-CN" sz="1400" dirty="0" err="1"/>
              <a:t>OperDualPortRam</a:t>
            </a:r>
            <a:r>
              <a:rPr lang="en-US" altLang="zh-CN" sz="1400" dirty="0"/>
              <a:t>, </a:t>
            </a:r>
            <a:r>
              <a:rPr lang="en-US" altLang="zh-CN" sz="1400" dirty="0" err="1"/>
              <a:t>OperMul</a:t>
            </a:r>
            <a:r>
              <a:rPr lang="en-US" altLang="zh-CN" sz="1400" dirty="0"/>
              <a:t>, </a:t>
            </a:r>
            <a:r>
              <a:rPr lang="en-US" altLang="zh-CN" sz="1400" dirty="0" err="1"/>
              <a:t>OperLut</a:t>
            </a:r>
            <a:r>
              <a:rPr lang="en-US" altLang="zh-CN" sz="1400" dirty="0"/>
              <a:t> and so on;</a:t>
            </a:r>
          </a:p>
          <a:p>
            <a:pPr>
              <a:lnSpc>
                <a:spcPct val="150000"/>
              </a:lnSpc>
              <a:buFont typeface="Wingdings" panose="05000000000000000000" pitchFamily="2" charset="2"/>
              <a:buChar char="Ø"/>
            </a:pPr>
            <a:r>
              <a:rPr lang="en-US" altLang="zh-CN" sz="1400" dirty="0"/>
              <a:t>Prims provide simple operations: </a:t>
            </a:r>
            <a:r>
              <a:rPr lang="en-US" altLang="zh-CN" sz="1400" dirty="0" err="1"/>
              <a:t>CombPrim</a:t>
            </a:r>
            <a:r>
              <a:rPr lang="en-US" altLang="zh-CN" sz="1400" dirty="0"/>
              <a:t>: </a:t>
            </a:r>
            <a:r>
              <a:rPr lang="en-US" altLang="zh-CN" sz="1400" dirty="0" err="1"/>
              <a:t>PrimAnd</a:t>
            </a:r>
            <a:r>
              <a:rPr lang="en-US" altLang="zh-CN" sz="1400" dirty="0"/>
              <a:t>, </a:t>
            </a:r>
            <a:r>
              <a:rPr lang="en-US" altLang="zh-CN" sz="1400" dirty="0" err="1"/>
              <a:t>PrimOr</a:t>
            </a:r>
            <a:r>
              <a:rPr lang="en-US" altLang="zh-CN" sz="1400" dirty="0"/>
              <a:t>, </a:t>
            </a:r>
            <a:r>
              <a:rPr lang="en-US" altLang="zh-CN" sz="1400" dirty="0" err="1"/>
              <a:t>PrimPwr</a:t>
            </a:r>
            <a:r>
              <a:rPr lang="en-US" altLang="zh-CN" sz="1400" dirty="0"/>
              <a:t>, </a:t>
            </a:r>
            <a:r>
              <a:rPr lang="en-US" altLang="zh-CN" sz="1400" dirty="0" err="1"/>
              <a:t>PrimGnd</a:t>
            </a:r>
            <a:r>
              <a:rPr lang="en-US" altLang="zh-CN" sz="1400" dirty="0"/>
              <a:t>, </a:t>
            </a:r>
            <a:r>
              <a:rPr lang="en-US" altLang="zh-CN" sz="1400" dirty="0" err="1"/>
              <a:t>PrimX</a:t>
            </a:r>
            <a:r>
              <a:rPr lang="en-US" altLang="zh-CN" sz="1400" dirty="0"/>
              <a:t>, </a:t>
            </a:r>
            <a:r>
              <a:rPr lang="en-US" altLang="zh-CN" sz="1400" dirty="0" err="1"/>
              <a:t>PrimZ</a:t>
            </a:r>
            <a:r>
              <a:rPr lang="en-US" altLang="zh-CN" sz="1400" dirty="0"/>
              <a:t> and so on;  Non-</a:t>
            </a:r>
            <a:r>
              <a:rPr lang="en-US" altLang="zh-CN" sz="1400" dirty="0" err="1"/>
              <a:t>CombPrim</a:t>
            </a:r>
            <a:r>
              <a:rPr lang="en-US" altLang="zh-CN" sz="1400" dirty="0"/>
              <a:t>: </a:t>
            </a:r>
            <a:r>
              <a:rPr lang="en-US" altLang="zh-CN" sz="1400" dirty="0" err="1"/>
              <a:t>PrimDff</a:t>
            </a:r>
            <a:r>
              <a:rPr lang="en-US" altLang="zh-CN" sz="1400" dirty="0"/>
              <a:t>,  </a:t>
            </a:r>
            <a:r>
              <a:rPr lang="en-US" altLang="zh-CN" sz="1400" dirty="0" err="1"/>
              <a:t>PrimDLatch</a:t>
            </a:r>
            <a:r>
              <a:rPr lang="en-US" altLang="zh-CN" sz="1400" dirty="0"/>
              <a:t>, </a:t>
            </a:r>
            <a:r>
              <a:rPr lang="en-US" altLang="zh-CN" sz="1400" dirty="0" err="1"/>
              <a:t>PrimPmos</a:t>
            </a:r>
            <a:r>
              <a:rPr lang="en-US" altLang="zh-CN" sz="1400" dirty="0"/>
              <a:t>, </a:t>
            </a:r>
            <a:r>
              <a:rPr lang="en-US" altLang="zh-CN" sz="1400" dirty="0" err="1"/>
              <a:t>PrimPullup</a:t>
            </a:r>
            <a:r>
              <a:rPr lang="en-US" altLang="zh-CN" sz="1400" dirty="0"/>
              <a:t>, </a:t>
            </a:r>
            <a:r>
              <a:rPr lang="en-US" altLang="zh-CN" sz="1400" dirty="0" err="1"/>
              <a:t>PrimTristate</a:t>
            </a:r>
            <a:r>
              <a:rPr lang="en-US" altLang="zh-CN" sz="1400" dirty="0"/>
              <a:t> and so on ; SVA Prim: PRIM_SVA_AT, PRIM_SVA_AND and so on. </a:t>
            </a:r>
            <a:endParaRPr lang="en-US" altLang="zh-CN" dirty="0"/>
          </a:p>
        </p:txBody>
      </p:sp>
    </p:spTree>
    <p:extLst>
      <p:ext uri="{BB962C8B-B14F-4D97-AF65-F5344CB8AC3E}">
        <p14:creationId xmlns:p14="http://schemas.microsoft.com/office/powerpoint/2010/main" val="172451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arn(inVertic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 calcmode="lin" valueType="num">
                                      <p:cBhvr additive="base">
                                        <p:cTn id="12"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
                                            <p:txEl>
                                              <p:pRg st="1" end="1"/>
                                            </p:txEl>
                                          </p:spTgt>
                                        </p:tgtEl>
                                        <p:attrNameLst>
                                          <p:attrName>style.visibility</p:attrName>
                                        </p:attrNameLst>
                                      </p:cBhvr>
                                      <p:to>
                                        <p:strVal val="visible"/>
                                      </p:to>
                                    </p:set>
                                    <p:anim calcmode="lin" valueType="num">
                                      <p:cBhvr additive="base">
                                        <p:cTn id="18"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4">
                                            <p:txEl>
                                              <p:pRg st="2" end="2"/>
                                            </p:txEl>
                                          </p:spTgt>
                                        </p:tgtEl>
                                        <p:attrNameLst>
                                          <p:attrName>style.visibility</p:attrName>
                                        </p:attrNameLst>
                                      </p:cBhvr>
                                      <p:to>
                                        <p:strVal val="visible"/>
                                      </p:to>
                                    </p:set>
                                    <p:anim calcmode="lin" valueType="num">
                                      <p:cBhvr additive="base">
                                        <p:cTn id="24"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
                                            <p:txEl>
                                              <p:pRg st="3" end="3"/>
                                            </p:txEl>
                                          </p:spTgt>
                                        </p:tgtEl>
                                        <p:attrNameLst>
                                          <p:attrName>style.visibility</p:attrName>
                                        </p:attrNameLst>
                                      </p:cBhvr>
                                      <p:to>
                                        <p:strVal val="visible"/>
                                      </p:to>
                                    </p:set>
                                    <p:anim calcmode="lin" valueType="num">
                                      <p:cBhvr additive="base">
                                        <p:cTn id="30"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
                                            <p:txEl>
                                              <p:pRg st="4" end="4"/>
                                            </p:txEl>
                                          </p:spTgt>
                                        </p:tgtEl>
                                        <p:attrNameLst>
                                          <p:attrName>style.visibility</p:attrName>
                                        </p:attrNameLst>
                                      </p:cBhvr>
                                      <p:to>
                                        <p:strVal val="visible"/>
                                      </p:to>
                                    </p:set>
                                    <p:anim calcmode="lin" valueType="num">
                                      <p:cBhvr additive="base">
                                        <p:cTn id="36"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 calcmode="lin" valueType="num">
                                      <p:cBhvr additive="base">
                                        <p:cTn id="42"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4">
                                            <p:txEl>
                                              <p:pRg st="6" end="6"/>
                                            </p:txEl>
                                          </p:spTgt>
                                        </p:tgtEl>
                                        <p:attrNameLst>
                                          <p:attrName>style.visibility</p:attrName>
                                        </p:attrNameLst>
                                      </p:cBhvr>
                                      <p:to>
                                        <p:strVal val="visible"/>
                                      </p:to>
                                    </p:set>
                                    <p:anim calcmode="lin" valueType="num">
                                      <p:cBhvr additive="base">
                                        <p:cTn id="48" dur="500" fill="hold"/>
                                        <p:tgtEl>
                                          <p:spTgt spid="14">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3"/>
          </p:nvPr>
        </p:nvSpPr>
        <p:spPr/>
        <p:txBody>
          <a:bodyPr/>
          <a:lstStyle/>
          <a:p>
            <a:r>
              <a:rPr lang="en-US" altLang="zh-CN" dirty="0" err="1"/>
              <a:t>Verific</a:t>
            </a:r>
            <a:r>
              <a:rPr lang="en-US" altLang="zh-CN" dirty="0"/>
              <a:t> Tool Introduction-Parse &amp; Elaboration</a:t>
            </a:r>
          </a:p>
        </p:txBody>
      </p:sp>
      <p:pic>
        <p:nvPicPr>
          <p:cNvPr id="5" name="图片 4" descr="日程表&#10;&#10;低可信度描述已自动生成">
            <a:extLst>
              <a:ext uri="{FF2B5EF4-FFF2-40B4-BE49-F238E27FC236}">
                <a16:creationId xmlns:a16="http://schemas.microsoft.com/office/drawing/2014/main" id="{2C38804F-8BE5-445B-BA3F-2AC4A45098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130" y="859960"/>
            <a:ext cx="4075416" cy="5484027"/>
          </a:xfrm>
          <a:prstGeom prst="rect">
            <a:avLst/>
          </a:prstGeom>
        </p:spPr>
      </p:pic>
      <p:pic>
        <p:nvPicPr>
          <p:cNvPr id="8" name="图片 7" descr="文本&#10;&#10;中度可信度描述已自动生成">
            <a:extLst>
              <a:ext uri="{FF2B5EF4-FFF2-40B4-BE49-F238E27FC236}">
                <a16:creationId xmlns:a16="http://schemas.microsoft.com/office/drawing/2014/main" id="{5E95FE8E-3652-4342-BB0B-5570CA609B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2706" y="859961"/>
            <a:ext cx="5895256" cy="5119600"/>
          </a:xfrm>
          <a:prstGeom prst="rect">
            <a:avLst/>
          </a:prstGeom>
        </p:spPr>
      </p:pic>
    </p:spTree>
    <p:extLst>
      <p:ext uri="{BB962C8B-B14F-4D97-AF65-F5344CB8AC3E}">
        <p14:creationId xmlns:p14="http://schemas.microsoft.com/office/powerpoint/2010/main" val="422487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arn(inVertical)">
                                      <p:cBhvr>
                                        <p:cTn id="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BA7BD05-5CB2-3807-7228-D67A3AB44FC4}"/>
              </a:ext>
            </a:extLst>
          </p:cNvPr>
          <p:cNvSpPr>
            <a:spLocks noGrp="1"/>
          </p:cNvSpPr>
          <p:nvPr>
            <p:ph type="body" sz="quarter" idx="13"/>
          </p:nvPr>
        </p:nvSpPr>
        <p:spPr/>
        <p:txBody>
          <a:bodyPr/>
          <a:lstStyle/>
          <a:p>
            <a:r>
              <a:rPr lang="en-US" altLang="zh-CN" dirty="0" err="1"/>
              <a:t>Yosys</a:t>
            </a:r>
            <a:r>
              <a:rPr lang="en-US" altLang="zh-CN" dirty="0"/>
              <a:t> Tool Introduction </a:t>
            </a:r>
            <a:endParaRPr lang="zh-CN" altLang="en-US" dirty="0"/>
          </a:p>
        </p:txBody>
      </p:sp>
      <p:sp>
        <p:nvSpPr>
          <p:cNvPr id="4" name="文本占位符 3">
            <a:extLst>
              <a:ext uri="{FF2B5EF4-FFF2-40B4-BE49-F238E27FC236}">
                <a16:creationId xmlns:a16="http://schemas.microsoft.com/office/drawing/2014/main" id="{F994F67B-1E89-0A6A-13F8-3B6F7F60560D}"/>
              </a:ext>
            </a:extLst>
          </p:cNvPr>
          <p:cNvSpPr>
            <a:spLocks noGrp="1"/>
          </p:cNvSpPr>
          <p:nvPr>
            <p:ph type="body" sz="quarter" idx="15"/>
          </p:nvPr>
        </p:nvSpPr>
        <p:spPr>
          <a:xfrm>
            <a:off x="479425" y="1244098"/>
            <a:ext cx="6035676" cy="4616954"/>
          </a:xfrm>
        </p:spPr>
        <p:txBody>
          <a:bodyPr>
            <a:normAutofit/>
          </a:bodyPr>
          <a:lstStyle/>
          <a:p>
            <a:r>
              <a:rPr lang="en-US" altLang="zh-CN" sz="1400" dirty="0"/>
              <a:t>A tool that can be used as logic synthesis and formal verification </a:t>
            </a:r>
          </a:p>
          <a:p>
            <a:r>
              <a:rPr lang="en-US" altLang="zh-CN" sz="1400" dirty="0"/>
              <a:t>Read and process (most of ) modern Verilog-2005</a:t>
            </a:r>
          </a:p>
          <a:p>
            <a:r>
              <a:rPr lang="en-US" altLang="zh-CN" sz="1400" dirty="0"/>
              <a:t>Perform all kinds of operations of netlist (RTL, Logic, Gate)</a:t>
            </a:r>
          </a:p>
          <a:p>
            <a:r>
              <a:rPr lang="en-US" altLang="zh-CN" sz="1400" dirty="0"/>
              <a:t>Perform logic optimizations and gate mapping using ABC</a:t>
            </a:r>
          </a:p>
          <a:p>
            <a:r>
              <a:rPr kumimoji="0" lang="en-US" altLang="zh-CN"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 synthesis script controls </a:t>
            </a:r>
            <a:r>
              <a:rPr kumimoji="0" lang="en-US" altLang="zh-CN" sz="1400" b="0" i="0" u="none" strike="noStrike" kern="1200" cap="none" spc="0" normalizeH="0" baseline="0" noProof="0" dirty="0" err="1">
                <a:ln>
                  <a:noFill/>
                </a:ln>
                <a:solidFill>
                  <a:prstClr val="black"/>
                </a:solidFill>
                <a:effectLst/>
                <a:uLnTx/>
                <a:uFillTx/>
                <a:latin typeface="等线" panose="020F0502020204030204"/>
                <a:ea typeface="等线" panose="02010600030101010101" pitchFamily="2" charset="-122"/>
                <a:cs typeface="+mn-cs"/>
              </a:rPr>
              <a:t>Yosys</a:t>
            </a:r>
            <a:endParaRPr kumimoji="0" lang="en-US" altLang="zh-CN"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Frontends, </a:t>
            </a:r>
            <a:r>
              <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the read input files (usually Verilog)</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Passes</a:t>
            </a:r>
            <a:r>
              <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the perform transformations on the design in memory</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1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Backends, </a:t>
            </a:r>
            <a:r>
              <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that writes the design in memory to file (Verilog, BTOR, BLIF, EDIF…) </a:t>
            </a:r>
            <a:endParaRPr kumimoji="0"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endParaRPr lang="zh-CN" altLang="en-US" sz="1200" dirty="0"/>
          </a:p>
        </p:txBody>
      </p:sp>
      <p:pic>
        <p:nvPicPr>
          <p:cNvPr id="6" name="图片 5">
            <a:extLst>
              <a:ext uri="{FF2B5EF4-FFF2-40B4-BE49-F238E27FC236}">
                <a16:creationId xmlns:a16="http://schemas.microsoft.com/office/drawing/2014/main" id="{663F55E0-FA33-DC43-9546-41184BEFD8C0}"/>
              </a:ext>
            </a:extLst>
          </p:cNvPr>
          <p:cNvPicPr>
            <a:picLocks noChangeAspect="1"/>
          </p:cNvPicPr>
          <p:nvPr/>
        </p:nvPicPr>
        <p:blipFill>
          <a:blip r:embed="rId2"/>
          <a:stretch>
            <a:fillRect/>
          </a:stretch>
        </p:blipFill>
        <p:spPr>
          <a:xfrm>
            <a:off x="6628586" y="1197428"/>
            <a:ext cx="4425726" cy="2398003"/>
          </a:xfrm>
          <a:prstGeom prst="rect">
            <a:avLst/>
          </a:prstGeom>
        </p:spPr>
      </p:pic>
      <p:pic>
        <p:nvPicPr>
          <p:cNvPr id="9" name="图片 8">
            <a:extLst>
              <a:ext uri="{FF2B5EF4-FFF2-40B4-BE49-F238E27FC236}">
                <a16:creationId xmlns:a16="http://schemas.microsoft.com/office/drawing/2014/main" id="{394ECBD5-B11D-7952-8573-8A376A933FCD}"/>
              </a:ext>
            </a:extLst>
          </p:cNvPr>
          <p:cNvPicPr>
            <a:picLocks noChangeAspect="1"/>
          </p:cNvPicPr>
          <p:nvPr/>
        </p:nvPicPr>
        <p:blipFill>
          <a:blip r:embed="rId3"/>
          <a:stretch>
            <a:fillRect/>
          </a:stretch>
        </p:blipFill>
        <p:spPr>
          <a:xfrm>
            <a:off x="6096000" y="4128103"/>
            <a:ext cx="2964018" cy="1589038"/>
          </a:xfrm>
          <a:prstGeom prst="rect">
            <a:avLst/>
          </a:prstGeom>
        </p:spPr>
      </p:pic>
      <p:pic>
        <p:nvPicPr>
          <p:cNvPr id="10" name="图片 9">
            <a:extLst>
              <a:ext uri="{FF2B5EF4-FFF2-40B4-BE49-F238E27FC236}">
                <a16:creationId xmlns:a16="http://schemas.microsoft.com/office/drawing/2014/main" id="{5481F2C2-5D69-C570-CDEA-DD39011803A6}"/>
              </a:ext>
            </a:extLst>
          </p:cNvPr>
          <p:cNvPicPr>
            <a:picLocks noChangeAspect="1"/>
          </p:cNvPicPr>
          <p:nvPr/>
        </p:nvPicPr>
        <p:blipFill>
          <a:blip r:embed="rId4"/>
          <a:stretch>
            <a:fillRect/>
          </a:stretch>
        </p:blipFill>
        <p:spPr>
          <a:xfrm>
            <a:off x="9202183" y="4084293"/>
            <a:ext cx="2507345" cy="1632848"/>
          </a:xfrm>
          <a:prstGeom prst="rect">
            <a:avLst/>
          </a:prstGeom>
        </p:spPr>
      </p:pic>
    </p:spTree>
    <p:extLst>
      <p:ext uri="{BB962C8B-B14F-4D97-AF65-F5344CB8AC3E}">
        <p14:creationId xmlns:p14="http://schemas.microsoft.com/office/powerpoint/2010/main" val="3304277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B59F80F-A124-40B5-B243-E04F906656EA}"/>
              </a:ext>
            </a:extLst>
          </p:cNvPr>
          <p:cNvSpPr>
            <a:spLocks noGrp="1"/>
          </p:cNvSpPr>
          <p:nvPr>
            <p:ph type="body" sz="quarter" idx="13"/>
          </p:nvPr>
        </p:nvSpPr>
        <p:spPr/>
        <p:txBody>
          <a:bodyPr/>
          <a:lstStyle/>
          <a:p>
            <a:r>
              <a:rPr lang="en-US" altLang="zh-CN" dirty="0" err="1"/>
              <a:t>Yosys</a:t>
            </a:r>
            <a:r>
              <a:rPr lang="en-US" altLang="zh-CN" dirty="0"/>
              <a:t> Tool Introduction</a:t>
            </a:r>
            <a:endParaRPr lang="zh-CN" altLang="en-US" dirty="0"/>
          </a:p>
        </p:txBody>
      </p:sp>
      <p:pic>
        <p:nvPicPr>
          <p:cNvPr id="6" name="图片 5">
            <a:extLst>
              <a:ext uri="{FF2B5EF4-FFF2-40B4-BE49-F238E27FC236}">
                <a16:creationId xmlns:a16="http://schemas.microsoft.com/office/drawing/2014/main" id="{3AEC8028-0F7B-B919-CD48-E23105E8E94A}"/>
              </a:ext>
            </a:extLst>
          </p:cNvPr>
          <p:cNvPicPr>
            <a:picLocks noChangeAspect="1"/>
          </p:cNvPicPr>
          <p:nvPr/>
        </p:nvPicPr>
        <p:blipFill>
          <a:blip r:embed="rId2"/>
          <a:stretch>
            <a:fillRect/>
          </a:stretch>
        </p:blipFill>
        <p:spPr>
          <a:xfrm>
            <a:off x="1088799" y="955131"/>
            <a:ext cx="2793561" cy="1800130"/>
          </a:xfrm>
          <a:prstGeom prst="rect">
            <a:avLst/>
          </a:prstGeom>
        </p:spPr>
      </p:pic>
      <p:pic>
        <p:nvPicPr>
          <p:cNvPr id="13" name="图片 12">
            <a:extLst>
              <a:ext uri="{FF2B5EF4-FFF2-40B4-BE49-F238E27FC236}">
                <a16:creationId xmlns:a16="http://schemas.microsoft.com/office/drawing/2014/main" id="{F0783BC0-933F-3F83-50E0-5CD08E620A09}"/>
              </a:ext>
            </a:extLst>
          </p:cNvPr>
          <p:cNvPicPr>
            <a:picLocks noChangeAspect="1"/>
          </p:cNvPicPr>
          <p:nvPr/>
        </p:nvPicPr>
        <p:blipFill>
          <a:blip r:embed="rId3"/>
          <a:stretch>
            <a:fillRect/>
          </a:stretch>
        </p:blipFill>
        <p:spPr>
          <a:xfrm>
            <a:off x="6057884" y="955131"/>
            <a:ext cx="2673321" cy="1727570"/>
          </a:xfrm>
          <a:prstGeom prst="rect">
            <a:avLst/>
          </a:prstGeom>
        </p:spPr>
      </p:pic>
      <p:pic>
        <p:nvPicPr>
          <p:cNvPr id="15" name="图片 14">
            <a:extLst>
              <a:ext uri="{FF2B5EF4-FFF2-40B4-BE49-F238E27FC236}">
                <a16:creationId xmlns:a16="http://schemas.microsoft.com/office/drawing/2014/main" id="{D88D8FFF-40EA-6286-91B6-B8AC89D45B09}"/>
              </a:ext>
            </a:extLst>
          </p:cNvPr>
          <p:cNvPicPr>
            <a:picLocks noChangeAspect="1"/>
          </p:cNvPicPr>
          <p:nvPr/>
        </p:nvPicPr>
        <p:blipFill>
          <a:blip r:embed="rId4"/>
          <a:stretch>
            <a:fillRect/>
          </a:stretch>
        </p:blipFill>
        <p:spPr>
          <a:xfrm>
            <a:off x="338448" y="3281167"/>
            <a:ext cx="2793562" cy="1653588"/>
          </a:xfrm>
          <a:prstGeom prst="rect">
            <a:avLst/>
          </a:prstGeom>
        </p:spPr>
      </p:pic>
      <p:pic>
        <p:nvPicPr>
          <p:cNvPr id="17" name="图片 16">
            <a:extLst>
              <a:ext uri="{FF2B5EF4-FFF2-40B4-BE49-F238E27FC236}">
                <a16:creationId xmlns:a16="http://schemas.microsoft.com/office/drawing/2014/main" id="{D2206229-47EC-FE36-069C-AC8D7D99F486}"/>
              </a:ext>
            </a:extLst>
          </p:cNvPr>
          <p:cNvPicPr>
            <a:picLocks noChangeAspect="1"/>
          </p:cNvPicPr>
          <p:nvPr/>
        </p:nvPicPr>
        <p:blipFill>
          <a:blip r:embed="rId5"/>
          <a:stretch>
            <a:fillRect/>
          </a:stretch>
        </p:blipFill>
        <p:spPr>
          <a:xfrm>
            <a:off x="3224861" y="3424709"/>
            <a:ext cx="2729608" cy="1461427"/>
          </a:xfrm>
          <a:prstGeom prst="rect">
            <a:avLst/>
          </a:prstGeom>
        </p:spPr>
      </p:pic>
      <p:pic>
        <p:nvPicPr>
          <p:cNvPr id="19" name="图片 18">
            <a:extLst>
              <a:ext uri="{FF2B5EF4-FFF2-40B4-BE49-F238E27FC236}">
                <a16:creationId xmlns:a16="http://schemas.microsoft.com/office/drawing/2014/main" id="{B60CF469-00C4-796A-0585-45148B351FE3}"/>
              </a:ext>
            </a:extLst>
          </p:cNvPr>
          <p:cNvPicPr>
            <a:picLocks noChangeAspect="1"/>
          </p:cNvPicPr>
          <p:nvPr/>
        </p:nvPicPr>
        <p:blipFill>
          <a:blip r:embed="rId6"/>
          <a:stretch>
            <a:fillRect/>
          </a:stretch>
        </p:blipFill>
        <p:spPr>
          <a:xfrm>
            <a:off x="6162335" y="3281167"/>
            <a:ext cx="2897657" cy="1829757"/>
          </a:xfrm>
          <a:prstGeom prst="rect">
            <a:avLst/>
          </a:prstGeom>
        </p:spPr>
      </p:pic>
      <p:pic>
        <p:nvPicPr>
          <p:cNvPr id="21" name="图片 20">
            <a:extLst>
              <a:ext uri="{FF2B5EF4-FFF2-40B4-BE49-F238E27FC236}">
                <a16:creationId xmlns:a16="http://schemas.microsoft.com/office/drawing/2014/main" id="{25C5E00F-E523-7F36-DF7E-C01EE166E604}"/>
              </a:ext>
            </a:extLst>
          </p:cNvPr>
          <p:cNvPicPr>
            <a:picLocks noChangeAspect="1"/>
          </p:cNvPicPr>
          <p:nvPr/>
        </p:nvPicPr>
        <p:blipFill>
          <a:blip r:embed="rId7"/>
          <a:stretch>
            <a:fillRect/>
          </a:stretch>
        </p:blipFill>
        <p:spPr>
          <a:xfrm>
            <a:off x="9351494" y="3340873"/>
            <a:ext cx="2793562" cy="1710344"/>
          </a:xfrm>
          <a:prstGeom prst="rect">
            <a:avLst/>
          </a:prstGeom>
        </p:spPr>
      </p:pic>
    </p:spTree>
    <p:extLst>
      <p:ext uri="{BB962C8B-B14F-4D97-AF65-F5344CB8AC3E}">
        <p14:creationId xmlns:p14="http://schemas.microsoft.com/office/powerpoint/2010/main" val="348499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3C16A6D-26A5-899D-F114-D535F9DD4EE3}"/>
              </a:ext>
            </a:extLst>
          </p:cNvPr>
          <p:cNvSpPr>
            <a:spLocks noGrp="1"/>
          </p:cNvSpPr>
          <p:nvPr>
            <p:ph type="body" sz="quarter" idx="13"/>
          </p:nvPr>
        </p:nvSpPr>
        <p:spPr/>
        <p:txBody>
          <a:bodyPr/>
          <a:lstStyle/>
          <a:p>
            <a:r>
              <a:rPr lang="en-US" altLang="zh-CN" dirty="0" err="1"/>
              <a:t>Yosys</a:t>
            </a:r>
            <a:r>
              <a:rPr lang="en-US" altLang="zh-CN" dirty="0"/>
              <a:t> Data Model</a:t>
            </a:r>
            <a:endParaRPr lang="zh-CN" altLang="en-US" dirty="0"/>
          </a:p>
          <a:p>
            <a:endParaRPr lang="zh-CN" altLang="en-US" dirty="0"/>
          </a:p>
        </p:txBody>
      </p:sp>
      <p:pic>
        <p:nvPicPr>
          <p:cNvPr id="6" name="图片 5">
            <a:extLst>
              <a:ext uri="{FF2B5EF4-FFF2-40B4-BE49-F238E27FC236}">
                <a16:creationId xmlns:a16="http://schemas.microsoft.com/office/drawing/2014/main" id="{6E11F1F1-0A49-490C-BBA0-8542874EFC31}"/>
              </a:ext>
            </a:extLst>
          </p:cNvPr>
          <p:cNvPicPr>
            <a:picLocks noChangeAspect="1"/>
          </p:cNvPicPr>
          <p:nvPr/>
        </p:nvPicPr>
        <p:blipFill>
          <a:blip r:embed="rId2"/>
          <a:stretch>
            <a:fillRect/>
          </a:stretch>
        </p:blipFill>
        <p:spPr>
          <a:xfrm>
            <a:off x="7441649" y="1611510"/>
            <a:ext cx="4267879" cy="1905691"/>
          </a:xfrm>
          <a:prstGeom prst="rect">
            <a:avLst/>
          </a:prstGeom>
        </p:spPr>
      </p:pic>
      <p:sp>
        <p:nvSpPr>
          <p:cNvPr id="11" name="文本框 10">
            <a:extLst>
              <a:ext uri="{FF2B5EF4-FFF2-40B4-BE49-F238E27FC236}">
                <a16:creationId xmlns:a16="http://schemas.microsoft.com/office/drawing/2014/main" id="{EA99C623-6322-4D3B-AD26-C23CFD567FDC}"/>
              </a:ext>
            </a:extLst>
          </p:cNvPr>
          <p:cNvSpPr txBox="1"/>
          <p:nvPr/>
        </p:nvSpPr>
        <p:spPr>
          <a:xfrm>
            <a:off x="332014" y="1143000"/>
            <a:ext cx="2618015" cy="4462760"/>
          </a:xfrm>
          <a:prstGeom prst="rect">
            <a:avLst/>
          </a:prstGeom>
          <a:noFill/>
        </p:spPr>
        <p:txBody>
          <a:bodyPr wrap="square" rtlCol="0">
            <a:spAutoFit/>
          </a:bodyPr>
          <a:lstStyle/>
          <a:p>
            <a:r>
              <a:rPr lang="en-US" altLang="zh-CN" sz="1400" dirty="0">
                <a:solidFill>
                  <a:srgbClr val="00B050"/>
                </a:solidFill>
                <a:latin typeface="Times New Roman" panose="02020603050405020304" pitchFamily="18" charset="0"/>
                <a:cs typeface="Times New Roman" panose="02020603050405020304" pitchFamily="18" charset="0"/>
              </a:rPr>
              <a:t>struct RTLIL::</a:t>
            </a:r>
            <a:r>
              <a:rPr lang="en-US" altLang="zh-CN" sz="1400" dirty="0" err="1">
                <a:solidFill>
                  <a:srgbClr val="00B050"/>
                </a:solidFill>
                <a:latin typeface="Times New Roman" panose="02020603050405020304" pitchFamily="18" charset="0"/>
                <a:cs typeface="Times New Roman" panose="02020603050405020304" pitchFamily="18" charset="0"/>
              </a:rPr>
              <a:t>IdString</a:t>
            </a:r>
            <a:endParaRPr lang="en-US" altLang="zh-CN" sz="1400" dirty="0">
              <a:solidFill>
                <a:srgbClr val="00B050"/>
              </a:solidFill>
              <a:latin typeface="Times New Roman" panose="02020603050405020304" pitchFamily="18" charset="0"/>
              <a:cs typeface="Times New Roman" panose="02020603050405020304" pitchFamily="18" charset="0"/>
            </a:endParaRPr>
          </a:p>
          <a:p>
            <a:r>
              <a:rPr lang="en-US" altLang="zh-CN" sz="1400" dirty="0">
                <a:solidFill>
                  <a:srgbClr val="00B050"/>
                </a:solidFill>
                <a:latin typeface="Times New Roman" panose="02020603050405020304" pitchFamily="18" charset="0"/>
                <a:cs typeface="Times New Roman" panose="02020603050405020304" pitchFamily="18" charset="0"/>
              </a:rPr>
              <a:t>struct RTLIL::Const</a:t>
            </a:r>
          </a:p>
          <a:p>
            <a:r>
              <a:rPr lang="en-US" altLang="zh-CN" sz="1400" dirty="0">
                <a:solidFill>
                  <a:srgbClr val="FF0000"/>
                </a:solidFill>
                <a:latin typeface="Times New Roman" panose="02020603050405020304" pitchFamily="18" charset="0"/>
                <a:cs typeface="Times New Roman" panose="02020603050405020304" pitchFamily="18" charset="0"/>
              </a:rPr>
              <a:t>struct RTLIL::</a:t>
            </a:r>
            <a:r>
              <a:rPr lang="en-US" altLang="zh-CN" sz="1400" dirty="0" err="1">
                <a:solidFill>
                  <a:srgbClr val="FF0000"/>
                </a:solidFill>
                <a:latin typeface="Times New Roman" panose="02020603050405020304" pitchFamily="18" charset="0"/>
                <a:cs typeface="Times New Roman" panose="02020603050405020304" pitchFamily="18" charset="0"/>
              </a:rPr>
              <a:t>AttrObject</a:t>
            </a:r>
            <a:endParaRPr lang="en-US" altLang="zh-CN" sz="1400" dirty="0">
              <a:solidFill>
                <a:srgbClr val="FF0000"/>
              </a:solidFill>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RTLIL::Selection</a:t>
            </a:r>
          </a:p>
          <a:p>
            <a:r>
              <a:rPr lang="en-US" altLang="zh-CN" sz="1400" dirty="0">
                <a:latin typeface="Times New Roman" panose="02020603050405020304" pitchFamily="18" charset="0"/>
                <a:cs typeface="Times New Roman" panose="02020603050405020304" pitchFamily="18" charset="0"/>
              </a:rPr>
              <a:t>struct RTLIL::Monitor</a:t>
            </a:r>
          </a:p>
          <a:p>
            <a:r>
              <a:rPr lang="en-US" altLang="zh-CN" sz="1400" dirty="0">
                <a:solidFill>
                  <a:srgbClr val="FF0000"/>
                </a:solidFill>
                <a:latin typeface="Times New Roman" panose="02020603050405020304" pitchFamily="18" charset="0"/>
                <a:cs typeface="Times New Roman" panose="02020603050405020304" pitchFamily="18" charset="0"/>
              </a:rPr>
              <a:t>struct RTLIL::Design</a:t>
            </a:r>
          </a:p>
          <a:p>
            <a:r>
              <a:rPr lang="en-US" altLang="zh-CN" sz="1400" dirty="0">
                <a:solidFill>
                  <a:srgbClr val="FF0000"/>
                </a:solidFill>
                <a:latin typeface="Times New Roman" panose="02020603050405020304" pitchFamily="18" charset="0"/>
                <a:cs typeface="Times New Roman" panose="02020603050405020304" pitchFamily="18" charset="0"/>
              </a:rPr>
              <a:t>struct RTLIL::Module</a:t>
            </a:r>
          </a:p>
          <a:p>
            <a:r>
              <a:rPr lang="en-US" altLang="zh-CN" sz="1400" dirty="0">
                <a:solidFill>
                  <a:srgbClr val="FF0000"/>
                </a:solidFill>
                <a:latin typeface="Times New Roman" panose="02020603050405020304" pitchFamily="18" charset="0"/>
                <a:cs typeface="Times New Roman" panose="02020603050405020304" pitchFamily="18" charset="0"/>
              </a:rPr>
              <a:t>struct RTLIL::Wire</a:t>
            </a:r>
          </a:p>
          <a:p>
            <a:r>
              <a:rPr lang="en-US" altLang="zh-CN" sz="1400" dirty="0">
                <a:solidFill>
                  <a:srgbClr val="00B050"/>
                </a:solidFill>
                <a:latin typeface="Times New Roman" panose="02020603050405020304" pitchFamily="18" charset="0"/>
                <a:cs typeface="Times New Roman" panose="02020603050405020304" pitchFamily="18" charset="0"/>
              </a:rPr>
              <a:t>struct RTLIL::Memory</a:t>
            </a:r>
          </a:p>
          <a:p>
            <a:r>
              <a:rPr lang="en-US" altLang="zh-CN" sz="1400" dirty="0">
                <a:solidFill>
                  <a:srgbClr val="FF0000"/>
                </a:solidFill>
                <a:latin typeface="Times New Roman" panose="02020603050405020304" pitchFamily="18" charset="0"/>
                <a:cs typeface="Times New Roman" panose="02020603050405020304" pitchFamily="18" charset="0"/>
              </a:rPr>
              <a:t>struct RTLIL::Cell</a:t>
            </a:r>
          </a:p>
          <a:p>
            <a:r>
              <a:rPr lang="en-US" altLang="zh-CN" sz="1400" dirty="0">
                <a:solidFill>
                  <a:srgbClr val="00B050"/>
                </a:solidFill>
                <a:latin typeface="Times New Roman" panose="02020603050405020304" pitchFamily="18" charset="0"/>
                <a:cs typeface="Times New Roman" panose="02020603050405020304" pitchFamily="18" charset="0"/>
              </a:rPr>
              <a:t>struct RTLIL::</a:t>
            </a:r>
            <a:r>
              <a:rPr lang="en-US" altLang="zh-CN" sz="1400" dirty="0" err="1">
                <a:solidFill>
                  <a:srgbClr val="00B050"/>
                </a:solidFill>
                <a:latin typeface="Times New Roman" panose="02020603050405020304" pitchFamily="18" charset="0"/>
                <a:cs typeface="Times New Roman" panose="02020603050405020304" pitchFamily="18" charset="0"/>
              </a:rPr>
              <a:t>SigChunk</a:t>
            </a:r>
            <a:endParaRPr lang="en-US" altLang="zh-CN" sz="1400" dirty="0">
              <a:solidFill>
                <a:srgbClr val="00B050"/>
              </a:solidFill>
              <a:latin typeface="Times New Roman" panose="02020603050405020304" pitchFamily="18" charset="0"/>
              <a:cs typeface="Times New Roman" panose="02020603050405020304" pitchFamily="18" charset="0"/>
            </a:endParaRPr>
          </a:p>
          <a:p>
            <a:r>
              <a:rPr lang="en-US" altLang="zh-CN" sz="1400" dirty="0">
                <a:solidFill>
                  <a:srgbClr val="00B050"/>
                </a:solidFill>
                <a:latin typeface="Times New Roman" panose="02020603050405020304" pitchFamily="18" charset="0"/>
                <a:cs typeface="Times New Roman" panose="02020603050405020304" pitchFamily="18" charset="0"/>
              </a:rPr>
              <a:t>struct RTLIL::</a:t>
            </a:r>
            <a:r>
              <a:rPr lang="en-US" altLang="zh-CN" sz="1400" dirty="0" err="1">
                <a:solidFill>
                  <a:srgbClr val="00B050"/>
                </a:solidFill>
                <a:latin typeface="Times New Roman" panose="02020603050405020304" pitchFamily="18" charset="0"/>
                <a:cs typeface="Times New Roman" panose="02020603050405020304" pitchFamily="18" charset="0"/>
              </a:rPr>
              <a:t>SigBit</a:t>
            </a:r>
            <a:endParaRPr lang="en-US" altLang="zh-CN" sz="1400" dirty="0">
              <a:solidFill>
                <a:srgbClr val="00B050"/>
              </a:solidFill>
              <a:latin typeface="Times New Roman" panose="02020603050405020304" pitchFamily="18" charset="0"/>
              <a:cs typeface="Times New Roman" panose="02020603050405020304" pitchFamily="18" charset="0"/>
            </a:endParaRPr>
          </a:p>
          <a:p>
            <a:r>
              <a:rPr lang="en-US" altLang="zh-CN" sz="1400" dirty="0">
                <a:solidFill>
                  <a:srgbClr val="00B050"/>
                </a:solidFill>
                <a:latin typeface="Times New Roman" panose="02020603050405020304" pitchFamily="18" charset="0"/>
                <a:cs typeface="Times New Roman" panose="02020603050405020304" pitchFamily="18" charset="0"/>
              </a:rPr>
              <a:t>struct RTLIL::</a:t>
            </a:r>
            <a:r>
              <a:rPr lang="en-US" altLang="zh-CN" sz="1400" dirty="0" err="1">
                <a:solidFill>
                  <a:srgbClr val="00B050"/>
                </a:solidFill>
                <a:latin typeface="Times New Roman" panose="02020603050405020304" pitchFamily="18" charset="0"/>
                <a:cs typeface="Times New Roman" panose="02020603050405020304" pitchFamily="18" charset="0"/>
              </a:rPr>
              <a:t>SigSpec</a:t>
            </a:r>
            <a:endParaRPr lang="en-US" altLang="zh-CN" sz="1400" dirty="0">
              <a:solidFill>
                <a:srgbClr val="00B050"/>
              </a:solidFill>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a:t>
            </a:r>
            <a:r>
              <a:rPr lang="en-US" altLang="zh-CN" sz="1400" dirty="0" err="1">
                <a:latin typeface="Times New Roman" panose="02020603050405020304" pitchFamily="18" charset="0"/>
                <a:cs typeface="Times New Roman" panose="02020603050405020304" pitchFamily="18" charset="0"/>
              </a:rPr>
              <a:t>CaseRule</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a:t>
            </a:r>
            <a:r>
              <a:rPr lang="en-US" altLang="zh-CN" sz="1400" dirty="0" err="1">
                <a:latin typeface="Times New Roman" panose="02020603050405020304" pitchFamily="18" charset="0"/>
                <a:cs typeface="Times New Roman" panose="02020603050405020304" pitchFamily="18" charset="0"/>
              </a:rPr>
              <a:t>SwitchRule</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a:t>
            </a:r>
            <a:r>
              <a:rPr lang="en-US" altLang="zh-CN" sz="1400" dirty="0" err="1">
                <a:latin typeface="Times New Roman" panose="02020603050405020304" pitchFamily="18" charset="0"/>
                <a:cs typeface="Times New Roman" panose="02020603050405020304" pitchFamily="18" charset="0"/>
              </a:rPr>
              <a:t>MemWriteAction</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a:t>
            </a:r>
            <a:r>
              <a:rPr lang="en-US" altLang="zh-CN" sz="1400" dirty="0" err="1">
                <a:latin typeface="Times New Roman" panose="02020603050405020304" pitchFamily="18" charset="0"/>
                <a:cs typeface="Times New Roman" panose="02020603050405020304" pitchFamily="18" charset="0"/>
              </a:rPr>
              <a:t>SyncRule</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RTLIL::Process</a:t>
            </a:r>
          </a:p>
          <a:p>
            <a:r>
              <a:rPr lang="en-US" altLang="zh-CN" sz="1400" dirty="0">
                <a:latin typeface="Times New Roman" panose="02020603050405020304" pitchFamily="18" charset="0"/>
                <a:cs typeface="Times New Roman" panose="02020603050405020304" pitchFamily="18" charset="0"/>
              </a:rPr>
              <a:t>struct RTLIL::Binding</a:t>
            </a:r>
          </a:p>
          <a:p>
            <a:endParaRPr lang="zh-CN" altLang="en-US" dirty="0"/>
          </a:p>
        </p:txBody>
      </p:sp>
      <p:pic>
        <p:nvPicPr>
          <p:cNvPr id="15" name="图片 14">
            <a:extLst>
              <a:ext uri="{FF2B5EF4-FFF2-40B4-BE49-F238E27FC236}">
                <a16:creationId xmlns:a16="http://schemas.microsoft.com/office/drawing/2014/main" id="{8D6236BC-798D-E228-57CE-EC4D5EAB73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0529" y="1402925"/>
            <a:ext cx="4125042" cy="2912931"/>
          </a:xfrm>
          <a:prstGeom prst="rect">
            <a:avLst/>
          </a:prstGeom>
        </p:spPr>
      </p:pic>
    </p:spTree>
    <p:extLst>
      <p:ext uri="{BB962C8B-B14F-4D97-AF65-F5344CB8AC3E}">
        <p14:creationId xmlns:p14="http://schemas.microsoft.com/office/powerpoint/2010/main" val="1135375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66FDF49-3872-E745-D959-01BD207DE57F}"/>
              </a:ext>
            </a:extLst>
          </p:cNvPr>
          <p:cNvSpPr>
            <a:spLocks noGrp="1"/>
          </p:cNvSpPr>
          <p:nvPr>
            <p:ph type="body" sz="quarter" idx="13"/>
          </p:nvPr>
        </p:nvSpPr>
        <p:spPr/>
        <p:txBody>
          <a:bodyPr/>
          <a:lstStyle/>
          <a:p>
            <a:r>
              <a:rPr lang="en-US" altLang="zh-CN" dirty="0" err="1"/>
              <a:t>Yosys</a:t>
            </a:r>
            <a:r>
              <a:rPr lang="en-US" altLang="zh-CN" dirty="0"/>
              <a:t> Data Model</a:t>
            </a:r>
          </a:p>
        </p:txBody>
      </p:sp>
      <p:grpSp>
        <p:nvGrpSpPr>
          <p:cNvPr id="80" name="组合 79">
            <a:extLst>
              <a:ext uri="{FF2B5EF4-FFF2-40B4-BE49-F238E27FC236}">
                <a16:creationId xmlns:a16="http://schemas.microsoft.com/office/drawing/2014/main" id="{2FBB6FA3-AFD6-20B2-763F-6BE29EC64C0D}"/>
              </a:ext>
            </a:extLst>
          </p:cNvPr>
          <p:cNvGrpSpPr/>
          <p:nvPr/>
        </p:nvGrpSpPr>
        <p:grpSpPr>
          <a:xfrm>
            <a:off x="679675" y="1224643"/>
            <a:ext cx="10407423" cy="4899285"/>
            <a:chOff x="603475" y="1224643"/>
            <a:chExt cx="10407423" cy="4899285"/>
          </a:xfrm>
        </p:grpSpPr>
        <p:sp>
          <p:nvSpPr>
            <p:cNvPr id="10" name="文本框 9">
              <a:extLst>
                <a:ext uri="{FF2B5EF4-FFF2-40B4-BE49-F238E27FC236}">
                  <a16:creationId xmlns:a16="http://schemas.microsoft.com/office/drawing/2014/main" id="{68D3B5CD-43FF-B091-CC49-CEA237935081}"/>
                </a:ext>
              </a:extLst>
            </p:cNvPr>
            <p:cNvSpPr txBox="1"/>
            <p:nvPr/>
          </p:nvSpPr>
          <p:spPr>
            <a:xfrm>
              <a:off x="946467" y="1322614"/>
              <a:ext cx="4703990" cy="4801314"/>
            </a:xfrm>
            <a:prstGeom prst="rect">
              <a:avLst/>
            </a:prstGeom>
            <a:noFill/>
          </p:spPr>
          <p:txBody>
            <a:bodyPr wrap="square">
              <a:spAutoFit/>
            </a:bodyPr>
            <a:lstStyle/>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module sub (clk, rst, shift);</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input clk, rst, en;</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out reg [2:0] shift ;  </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always @(posedge clk or negedge rst)</a:t>
              </a:r>
            </a:p>
            <a:p>
              <a:pPr marL="34290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if (!rst) begin</a:t>
              </a:r>
            </a:p>
            <a:p>
              <a:pPr marL="68580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shift &lt;= 3'b011;</a:t>
              </a:r>
            </a:p>
            <a:p>
              <a:pPr marL="34290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end else begin</a:t>
              </a:r>
            </a:p>
            <a:p>
              <a:pPr marL="68580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shift &lt;= {shift[0], shift[2:1]};</a:t>
              </a:r>
            </a:p>
            <a:p>
              <a:pPr marL="34290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end</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endmodule</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module top(clk, rst, out);</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input clk, rst;</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output out;</a:t>
              </a:r>
            </a:p>
            <a:p>
              <a:pPr marL="0" marR="0" rtl="0">
                <a:spcBef>
                  <a:spcPts val="0"/>
                </a:spcBef>
                <a:spcAft>
                  <a:spcPts val="0"/>
                </a:spcAft>
              </a:pPr>
              <a:r>
                <a:rPr lang="en-US" altLang="zh-CN" dirty="0">
                  <a:latin typeface="Times New Roman" panose="02020603050405020304" pitchFamily="18" charset="0"/>
                  <a:ea typeface="Calibri" panose="020F0502020204030204" pitchFamily="34" charset="0"/>
                  <a:cs typeface="Times New Roman" panose="02020603050405020304" pitchFamily="18" charset="0"/>
                </a:rPr>
                <a:t>sub</a:t>
              </a: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altLang="zh-CN" sz="1800" dirty="0" err="1">
                  <a:effectLst/>
                  <a:latin typeface="Times New Roman" panose="02020603050405020304" pitchFamily="18" charset="0"/>
                  <a:ea typeface="Calibri" panose="020F0502020204030204" pitchFamily="34" charset="0"/>
                  <a:cs typeface="Times New Roman" panose="02020603050405020304" pitchFamily="18" charset="0"/>
                </a:rPr>
                <a:t>i_sub</a:t>
              </a: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altLang="zh-CN" dirty="0">
                  <a:latin typeface="Times New Roman" panose="02020603050405020304" pitchFamily="18" charset="0"/>
                  <a:ea typeface="Calibri" panose="020F0502020204030204" pitchFamily="34" charset="0"/>
                  <a:cs typeface="Times New Roman" panose="02020603050405020304" pitchFamily="18" charset="0"/>
                </a:rPr>
                <a:t>.</a:t>
              </a:r>
              <a:r>
                <a:rPr lang="en-US" altLang="zh-CN" dirty="0" err="1">
                  <a:latin typeface="Times New Roman" panose="02020603050405020304" pitchFamily="18" charset="0"/>
                  <a:ea typeface="Calibri" panose="020F0502020204030204" pitchFamily="34" charset="0"/>
                  <a:cs typeface="Times New Roman" panose="02020603050405020304" pitchFamily="18" charset="0"/>
                </a:rPr>
                <a:t>clk</a:t>
              </a:r>
              <a:r>
                <a:rPr lang="en-US" altLang="zh-CN" dirty="0">
                  <a:latin typeface="Times New Roman" panose="02020603050405020304" pitchFamily="18" charset="0"/>
                  <a:ea typeface="Calibri" panose="020F0502020204030204" pitchFamily="34" charset="0"/>
                  <a:cs typeface="Times New Roman" panose="02020603050405020304" pitchFamily="18" charset="0"/>
                </a:rPr>
                <a:t>(</a:t>
              </a:r>
              <a:r>
                <a:rPr lang="en-US" altLang="zh-CN" sz="1800" dirty="0" err="1">
                  <a:effectLst/>
                  <a:latin typeface="Times New Roman" panose="02020603050405020304" pitchFamily="18" charset="0"/>
                  <a:ea typeface="Calibri" panose="020F0502020204030204" pitchFamily="34" charset="0"/>
                  <a:cs typeface="Times New Roman" panose="02020603050405020304" pitchFamily="18" charset="0"/>
                </a:rPr>
                <a:t>clk</a:t>
              </a: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altLang="zh-CN" sz="1800" dirty="0" err="1">
                  <a:effectLst/>
                  <a:latin typeface="Times New Roman" panose="02020603050405020304" pitchFamily="18" charset="0"/>
                  <a:ea typeface="Calibri" panose="020F0502020204030204" pitchFamily="34" charset="0"/>
                  <a:cs typeface="Times New Roman" panose="02020603050405020304" pitchFamily="18" charset="0"/>
                </a:rPr>
                <a:t>rst</a:t>
              </a: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altLang="zh-CN" sz="1800" dirty="0" err="1">
                  <a:effectLst/>
                  <a:latin typeface="Times New Roman" panose="02020603050405020304" pitchFamily="18" charset="0"/>
                  <a:ea typeface="Calibri" panose="020F0502020204030204" pitchFamily="34" charset="0"/>
                  <a:cs typeface="Times New Roman" panose="02020603050405020304" pitchFamily="18" charset="0"/>
                </a:rPr>
                <a:t>rst</a:t>
              </a: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altLang="zh-CN" dirty="0">
                  <a:latin typeface="Times New Roman" panose="02020603050405020304" pitchFamily="18" charset="0"/>
                  <a:ea typeface="Calibri" panose="020F0502020204030204" pitchFamily="34" charset="0"/>
                  <a:cs typeface="Times New Roman" panose="02020603050405020304" pitchFamily="18" charset="0"/>
                </a:rPr>
                <a:t>shift</a:t>
              </a: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(out));</a:t>
              </a:r>
            </a:p>
            <a:p>
              <a:pPr marL="0" marR="0" rtl="0">
                <a:spcBef>
                  <a:spcPts val="0"/>
                </a:spcBef>
                <a:spcAft>
                  <a:spcPts val="0"/>
                </a:spcAft>
              </a:pPr>
              <a:r>
                <a:rPr lang="en-US" altLang="zh-CN" sz="1800" dirty="0">
                  <a:effectLst/>
                  <a:latin typeface="Times New Roman" panose="02020603050405020304" pitchFamily="18" charset="0"/>
                  <a:ea typeface="Calibri" panose="020F0502020204030204" pitchFamily="34" charset="0"/>
                  <a:cs typeface="Times New Roman" panose="02020603050405020304" pitchFamily="18" charset="0"/>
                </a:rPr>
                <a:t>endmodule </a:t>
              </a:r>
            </a:p>
          </p:txBody>
        </p:sp>
        <p:sp>
          <p:nvSpPr>
            <p:cNvPr id="11" name="矩形: 圆角 10">
              <a:extLst>
                <a:ext uri="{FF2B5EF4-FFF2-40B4-BE49-F238E27FC236}">
                  <a16:creationId xmlns:a16="http://schemas.microsoft.com/office/drawing/2014/main" id="{E4E23FD8-B4DC-96F6-0DD3-AFDAF93E234F}"/>
                </a:ext>
              </a:extLst>
            </p:cNvPr>
            <p:cNvSpPr/>
            <p:nvPr/>
          </p:nvSpPr>
          <p:spPr>
            <a:xfrm>
              <a:off x="7195457" y="1224643"/>
              <a:ext cx="1529443" cy="3747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RTLIL::Module</a:t>
              </a:r>
              <a:endParaRPr lang="zh-CN" altLang="en-US" sz="1400" dirty="0"/>
            </a:p>
          </p:txBody>
        </p:sp>
        <p:sp>
          <p:nvSpPr>
            <p:cNvPr id="12" name="矩形: 圆角 11">
              <a:extLst>
                <a:ext uri="{FF2B5EF4-FFF2-40B4-BE49-F238E27FC236}">
                  <a16:creationId xmlns:a16="http://schemas.microsoft.com/office/drawing/2014/main" id="{0E5A7CD3-643C-4540-82D8-863262410D09}"/>
                </a:ext>
              </a:extLst>
            </p:cNvPr>
            <p:cNvSpPr/>
            <p:nvPr/>
          </p:nvSpPr>
          <p:spPr>
            <a:xfrm>
              <a:off x="5893545" y="2005701"/>
              <a:ext cx="1529443" cy="3747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RTLIL::Cell</a:t>
              </a:r>
              <a:endParaRPr lang="zh-CN" altLang="en-US" sz="1400" dirty="0"/>
            </a:p>
          </p:txBody>
        </p:sp>
        <p:sp>
          <p:nvSpPr>
            <p:cNvPr id="13" name="矩形: 圆角 12">
              <a:extLst>
                <a:ext uri="{FF2B5EF4-FFF2-40B4-BE49-F238E27FC236}">
                  <a16:creationId xmlns:a16="http://schemas.microsoft.com/office/drawing/2014/main" id="{0F426C5B-841B-3DAF-B61B-BA6A21B19332}"/>
                </a:ext>
              </a:extLst>
            </p:cNvPr>
            <p:cNvSpPr/>
            <p:nvPr/>
          </p:nvSpPr>
          <p:spPr>
            <a:xfrm>
              <a:off x="9481455" y="2005701"/>
              <a:ext cx="1529443" cy="3747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RTLIL::Wire</a:t>
              </a:r>
              <a:endParaRPr lang="zh-CN" altLang="en-US" sz="1400" dirty="0"/>
            </a:p>
          </p:txBody>
        </p:sp>
        <p:sp>
          <p:nvSpPr>
            <p:cNvPr id="14" name="矩形: 圆角 13">
              <a:extLst>
                <a:ext uri="{FF2B5EF4-FFF2-40B4-BE49-F238E27FC236}">
                  <a16:creationId xmlns:a16="http://schemas.microsoft.com/office/drawing/2014/main" id="{A7F133F6-26EE-7C10-C7D1-5E6A0610711C}"/>
                </a:ext>
              </a:extLst>
            </p:cNvPr>
            <p:cNvSpPr/>
            <p:nvPr/>
          </p:nvSpPr>
          <p:spPr>
            <a:xfrm>
              <a:off x="8531680" y="2643516"/>
              <a:ext cx="1529443" cy="3747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RTLIL::</a:t>
              </a:r>
              <a:r>
                <a:rPr lang="en-US" altLang="zh-CN" sz="1400" dirty="0" err="1"/>
                <a:t>SigBit</a:t>
              </a:r>
              <a:endParaRPr lang="zh-CN" altLang="en-US" sz="1400" dirty="0"/>
            </a:p>
          </p:txBody>
        </p:sp>
        <p:sp>
          <p:nvSpPr>
            <p:cNvPr id="15" name="矩形: 圆角 14">
              <a:extLst>
                <a:ext uri="{FF2B5EF4-FFF2-40B4-BE49-F238E27FC236}">
                  <a16:creationId xmlns:a16="http://schemas.microsoft.com/office/drawing/2014/main" id="{7A443F4B-EBD6-A05E-98BE-64059C1ADD3F}"/>
                </a:ext>
              </a:extLst>
            </p:cNvPr>
            <p:cNvSpPr/>
            <p:nvPr/>
          </p:nvSpPr>
          <p:spPr>
            <a:xfrm>
              <a:off x="8531680" y="3179993"/>
              <a:ext cx="1529443" cy="3747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RTLIL::</a:t>
              </a:r>
              <a:r>
                <a:rPr lang="en-US" altLang="zh-CN" sz="1400" dirty="0" err="1"/>
                <a:t>SigChunk</a:t>
              </a:r>
              <a:endParaRPr lang="zh-CN" altLang="en-US" sz="1400" dirty="0"/>
            </a:p>
          </p:txBody>
        </p:sp>
        <p:sp>
          <p:nvSpPr>
            <p:cNvPr id="16" name="矩形: 圆角 15">
              <a:extLst>
                <a:ext uri="{FF2B5EF4-FFF2-40B4-BE49-F238E27FC236}">
                  <a16:creationId xmlns:a16="http://schemas.microsoft.com/office/drawing/2014/main" id="{ED3C86B8-C899-CE48-20D1-7F2B1A719A92}"/>
                </a:ext>
              </a:extLst>
            </p:cNvPr>
            <p:cNvSpPr/>
            <p:nvPr/>
          </p:nvSpPr>
          <p:spPr>
            <a:xfrm>
              <a:off x="8531679" y="3839697"/>
              <a:ext cx="1529443" cy="3747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RTLIL::</a:t>
              </a:r>
              <a:r>
                <a:rPr lang="en-US" altLang="zh-CN" sz="1400" dirty="0" err="1"/>
                <a:t>SigSpec</a:t>
              </a:r>
              <a:endParaRPr lang="zh-CN" altLang="en-US" sz="1400" dirty="0"/>
            </a:p>
          </p:txBody>
        </p:sp>
        <p:sp>
          <p:nvSpPr>
            <p:cNvPr id="17" name="矩形: 圆角 16">
              <a:extLst>
                <a:ext uri="{FF2B5EF4-FFF2-40B4-BE49-F238E27FC236}">
                  <a16:creationId xmlns:a16="http://schemas.microsoft.com/office/drawing/2014/main" id="{E02749D5-BA04-9738-0F43-F4C172DAD716}"/>
                </a:ext>
              </a:extLst>
            </p:cNvPr>
            <p:cNvSpPr/>
            <p:nvPr/>
          </p:nvSpPr>
          <p:spPr>
            <a:xfrm>
              <a:off x="7687500" y="2005701"/>
              <a:ext cx="1529443" cy="3747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RTLIL::Constant</a:t>
              </a:r>
              <a:endParaRPr lang="zh-CN" altLang="en-US" sz="1400" dirty="0"/>
            </a:p>
          </p:txBody>
        </p:sp>
        <p:sp>
          <p:nvSpPr>
            <p:cNvPr id="53" name="椭圆 52">
              <a:extLst>
                <a:ext uri="{FF2B5EF4-FFF2-40B4-BE49-F238E27FC236}">
                  <a16:creationId xmlns:a16="http://schemas.microsoft.com/office/drawing/2014/main" id="{8227ECDB-7DE5-8AE2-7434-32FE53C9E6E3}"/>
                </a:ext>
              </a:extLst>
            </p:cNvPr>
            <p:cNvSpPr/>
            <p:nvPr/>
          </p:nvSpPr>
          <p:spPr>
            <a:xfrm>
              <a:off x="962024" y="1322614"/>
              <a:ext cx="1683205" cy="37478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连接符: 曲线 54">
              <a:extLst>
                <a:ext uri="{FF2B5EF4-FFF2-40B4-BE49-F238E27FC236}">
                  <a16:creationId xmlns:a16="http://schemas.microsoft.com/office/drawing/2014/main" id="{E9ACC92A-E332-10A4-1F09-D5E18C8444F9}"/>
                </a:ext>
              </a:extLst>
            </p:cNvPr>
            <p:cNvCxnSpPr>
              <a:stCxn id="53" idx="7"/>
              <a:endCxn id="11" idx="1"/>
            </p:cNvCxnSpPr>
            <p:nvPr/>
          </p:nvCxnSpPr>
          <p:spPr>
            <a:xfrm rot="16200000" flipH="1">
              <a:off x="4779824" y="-1003596"/>
              <a:ext cx="34537" cy="4796728"/>
            </a:xfrm>
            <a:prstGeom prst="curvedConnector4">
              <a:avLst>
                <a:gd name="adj1" fmla="val -661899"/>
                <a:gd name="adj2" fmla="val 52569"/>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32B1C6C9-6EF3-F94A-C832-5D136B4AB499}"/>
                </a:ext>
              </a:extLst>
            </p:cNvPr>
            <p:cNvSpPr/>
            <p:nvPr/>
          </p:nvSpPr>
          <p:spPr>
            <a:xfrm>
              <a:off x="870857" y="1599432"/>
              <a:ext cx="2038884" cy="62669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1FE9D3E5-118D-D501-548A-DE766E5EC795}"/>
                </a:ext>
              </a:extLst>
            </p:cNvPr>
            <p:cNvSpPr/>
            <p:nvPr/>
          </p:nvSpPr>
          <p:spPr>
            <a:xfrm>
              <a:off x="870858" y="5535386"/>
              <a:ext cx="1083128" cy="28847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F6A94CA6-97F6-DDB4-5C6A-4BBB3F9935B9}"/>
                </a:ext>
              </a:extLst>
            </p:cNvPr>
            <p:cNvSpPr/>
            <p:nvPr/>
          </p:nvSpPr>
          <p:spPr>
            <a:xfrm>
              <a:off x="603475" y="2254433"/>
              <a:ext cx="4218896" cy="1960051"/>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连接符: 曲线 61">
              <a:extLst>
                <a:ext uri="{FF2B5EF4-FFF2-40B4-BE49-F238E27FC236}">
                  <a16:creationId xmlns:a16="http://schemas.microsoft.com/office/drawing/2014/main" id="{5A4378AF-2956-58C4-4303-FA087DC12927}"/>
                </a:ext>
              </a:extLst>
            </p:cNvPr>
            <p:cNvCxnSpPr>
              <a:cxnSpLocks/>
              <a:stCxn id="59" idx="6"/>
              <a:endCxn id="12" idx="2"/>
            </p:cNvCxnSpPr>
            <p:nvPr/>
          </p:nvCxnSpPr>
          <p:spPr>
            <a:xfrm flipV="1">
              <a:off x="1953986" y="2380489"/>
              <a:ext cx="4704281" cy="3299133"/>
            </a:xfrm>
            <a:prstGeom prst="curved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连接符: 曲线 63">
              <a:extLst>
                <a:ext uri="{FF2B5EF4-FFF2-40B4-BE49-F238E27FC236}">
                  <a16:creationId xmlns:a16="http://schemas.microsoft.com/office/drawing/2014/main" id="{9958E3B6-44DC-29B7-5B59-F4CE3BBACC70}"/>
                </a:ext>
              </a:extLst>
            </p:cNvPr>
            <p:cNvCxnSpPr>
              <a:stCxn id="60" idx="6"/>
              <a:endCxn id="12" idx="2"/>
            </p:cNvCxnSpPr>
            <p:nvPr/>
          </p:nvCxnSpPr>
          <p:spPr>
            <a:xfrm flipV="1">
              <a:off x="4822371" y="2380489"/>
              <a:ext cx="1835896" cy="853970"/>
            </a:xfrm>
            <a:prstGeom prst="curvedConnector2">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65" name="椭圆 64">
              <a:extLst>
                <a:ext uri="{FF2B5EF4-FFF2-40B4-BE49-F238E27FC236}">
                  <a16:creationId xmlns:a16="http://schemas.microsoft.com/office/drawing/2014/main" id="{0A45C880-4534-310F-A9E4-13AF6604F938}"/>
                </a:ext>
              </a:extLst>
            </p:cNvPr>
            <p:cNvSpPr/>
            <p:nvPr/>
          </p:nvSpPr>
          <p:spPr>
            <a:xfrm>
              <a:off x="2498271" y="3018304"/>
              <a:ext cx="668939" cy="286527"/>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连接符: 曲线 66">
              <a:extLst>
                <a:ext uri="{FF2B5EF4-FFF2-40B4-BE49-F238E27FC236}">
                  <a16:creationId xmlns:a16="http://schemas.microsoft.com/office/drawing/2014/main" id="{92E85C3D-848F-D4CD-0205-65285B0DF5B4}"/>
                </a:ext>
              </a:extLst>
            </p:cNvPr>
            <p:cNvCxnSpPr>
              <a:endCxn id="17" idx="2"/>
            </p:cNvCxnSpPr>
            <p:nvPr/>
          </p:nvCxnSpPr>
          <p:spPr>
            <a:xfrm flipV="1">
              <a:off x="3167210" y="2380489"/>
              <a:ext cx="5285012" cy="79383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连接符: 曲线 68">
              <a:extLst>
                <a:ext uri="{FF2B5EF4-FFF2-40B4-BE49-F238E27FC236}">
                  <a16:creationId xmlns:a16="http://schemas.microsoft.com/office/drawing/2014/main" id="{35E2C095-5F05-8D38-A4BE-6FEAE1769292}"/>
                </a:ext>
              </a:extLst>
            </p:cNvPr>
            <p:cNvCxnSpPr>
              <a:stCxn id="56" idx="6"/>
              <a:endCxn id="13" idx="0"/>
            </p:cNvCxnSpPr>
            <p:nvPr/>
          </p:nvCxnSpPr>
          <p:spPr>
            <a:xfrm>
              <a:off x="2909741" y="1912781"/>
              <a:ext cx="7336436" cy="92920"/>
            </a:xfrm>
            <a:prstGeom prst="curvedConnector2">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33DFC67C-A635-26C9-9DF0-59A939086319}"/>
                </a:ext>
              </a:extLst>
            </p:cNvPr>
            <p:cNvSpPr/>
            <p:nvPr/>
          </p:nvSpPr>
          <p:spPr>
            <a:xfrm>
              <a:off x="2643577" y="3549107"/>
              <a:ext cx="670592" cy="335149"/>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2" name="连接符: 曲线 71">
              <a:extLst>
                <a:ext uri="{FF2B5EF4-FFF2-40B4-BE49-F238E27FC236}">
                  <a16:creationId xmlns:a16="http://schemas.microsoft.com/office/drawing/2014/main" id="{67C3B51E-621E-C0E8-0E1C-1EA4505FAB07}"/>
                </a:ext>
              </a:extLst>
            </p:cNvPr>
            <p:cNvCxnSpPr>
              <a:cxnSpLocks/>
              <a:stCxn id="70" idx="7"/>
              <a:endCxn id="14" idx="1"/>
            </p:cNvCxnSpPr>
            <p:nvPr/>
          </p:nvCxnSpPr>
          <p:spPr>
            <a:xfrm rot="5400000" flipH="1" flipV="1">
              <a:off x="5490182" y="556691"/>
              <a:ext cx="767278" cy="5315717"/>
            </a:xfrm>
            <a:prstGeom prst="curvedConnector2">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4" name="椭圆 73">
              <a:extLst>
                <a:ext uri="{FF2B5EF4-FFF2-40B4-BE49-F238E27FC236}">
                  <a16:creationId xmlns:a16="http://schemas.microsoft.com/office/drawing/2014/main" id="{DF251538-2879-BBEE-68C3-FD87025DEB47}"/>
                </a:ext>
              </a:extLst>
            </p:cNvPr>
            <p:cNvSpPr/>
            <p:nvPr/>
          </p:nvSpPr>
          <p:spPr>
            <a:xfrm>
              <a:off x="3429000" y="3549107"/>
              <a:ext cx="876300" cy="375193"/>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6" name="连接符: 曲线 75">
              <a:extLst>
                <a:ext uri="{FF2B5EF4-FFF2-40B4-BE49-F238E27FC236}">
                  <a16:creationId xmlns:a16="http://schemas.microsoft.com/office/drawing/2014/main" id="{9315ECAA-DE8F-1A55-E8C2-8307A3D640BD}"/>
                </a:ext>
              </a:extLst>
            </p:cNvPr>
            <p:cNvCxnSpPr>
              <a:stCxn id="74" idx="6"/>
              <a:endCxn id="15" idx="1"/>
            </p:cNvCxnSpPr>
            <p:nvPr/>
          </p:nvCxnSpPr>
          <p:spPr>
            <a:xfrm flipV="1">
              <a:off x="4305300" y="3367387"/>
              <a:ext cx="4226380" cy="369317"/>
            </a:xfrm>
            <a:prstGeom prst="curvedConnector3">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8F1ADD87-E22E-46B2-04AE-9F353BE1A16D}"/>
                </a:ext>
              </a:extLst>
            </p:cNvPr>
            <p:cNvSpPr/>
            <p:nvPr/>
          </p:nvSpPr>
          <p:spPr>
            <a:xfrm>
              <a:off x="2498271" y="3437759"/>
              <a:ext cx="2030186" cy="54767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9" name="连接符: 曲线 78">
              <a:extLst>
                <a:ext uri="{FF2B5EF4-FFF2-40B4-BE49-F238E27FC236}">
                  <a16:creationId xmlns:a16="http://schemas.microsoft.com/office/drawing/2014/main" id="{366C3361-CFE1-225F-7063-883219C0E55E}"/>
                </a:ext>
              </a:extLst>
            </p:cNvPr>
            <p:cNvCxnSpPr>
              <a:endCxn id="16" idx="2"/>
            </p:cNvCxnSpPr>
            <p:nvPr/>
          </p:nvCxnSpPr>
          <p:spPr>
            <a:xfrm>
              <a:off x="3532414" y="3985436"/>
              <a:ext cx="5763987" cy="229049"/>
            </a:xfrm>
            <a:prstGeom prst="curvedConnector4">
              <a:avLst>
                <a:gd name="adj1" fmla="val 43366"/>
                <a:gd name="adj2" fmla="val 199804"/>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85AAB73C-A342-983E-003A-96242D414B6C}"/>
              </a:ext>
            </a:extLst>
          </p:cNvPr>
          <p:cNvGrpSpPr/>
          <p:nvPr/>
        </p:nvGrpSpPr>
        <p:grpSpPr>
          <a:xfrm>
            <a:off x="6291944" y="4670573"/>
            <a:ext cx="4795154" cy="1925568"/>
            <a:chOff x="1594761" y="1801586"/>
            <a:chExt cx="5402030" cy="2416628"/>
          </a:xfrm>
        </p:grpSpPr>
        <p:sp>
          <p:nvSpPr>
            <p:cNvPr id="5" name="矩形 4">
              <a:extLst>
                <a:ext uri="{FF2B5EF4-FFF2-40B4-BE49-F238E27FC236}">
                  <a16:creationId xmlns:a16="http://schemas.microsoft.com/office/drawing/2014/main" id="{17FE969A-BB16-E9FA-BDB9-DDDCF97707EC}"/>
                </a:ext>
              </a:extLst>
            </p:cNvPr>
            <p:cNvSpPr/>
            <p:nvPr/>
          </p:nvSpPr>
          <p:spPr>
            <a:xfrm>
              <a:off x="2100943" y="1801586"/>
              <a:ext cx="4370614" cy="2416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3E483103-0657-F356-98D2-C73E1194641B}"/>
                </a:ext>
              </a:extLst>
            </p:cNvPr>
            <p:cNvSpPr/>
            <p:nvPr/>
          </p:nvSpPr>
          <p:spPr>
            <a:xfrm>
              <a:off x="3113313" y="2071652"/>
              <a:ext cx="2291443" cy="1536962"/>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585122DE-9D98-0FFB-3934-D9B23E099967}"/>
                </a:ext>
              </a:extLst>
            </p:cNvPr>
            <p:cNvSpPr txBox="1"/>
            <p:nvPr/>
          </p:nvSpPr>
          <p:spPr>
            <a:xfrm>
              <a:off x="2209800" y="1948542"/>
              <a:ext cx="446314" cy="246221"/>
            </a:xfrm>
            <a:prstGeom prst="rect">
              <a:avLst/>
            </a:prstGeom>
            <a:noFill/>
          </p:spPr>
          <p:txBody>
            <a:bodyPr wrap="square" rtlCol="0">
              <a:spAutoFit/>
            </a:bodyPr>
            <a:lstStyle/>
            <a:p>
              <a:r>
                <a:rPr lang="en-US" altLang="zh-CN" sz="1000" dirty="0"/>
                <a:t>top</a:t>
              </a:r>
              <a:endParaRPr lang="zh-CN" altLang="en-US" sz="1000" dirty="0"/>
            </a:p>
          </p:txBody>
        </p:sp>
        <p:sp>
          <p:nvSpPr>
            <p:cNvPr id="8" name="文本框 7">
              <a:extLst>
                <a:ext uri="{FF2B5EF4-FFF2-40B4-BE49-F238E27FC236}">
                  <a16:creationId xmlns:a16="http://schemas.microsoft.com/office/drawing/2014/main" id="{8F15F707-77C1-F8CA-B7AA-DD25357A8AAD}"/>
                </a:ext>
              </a:extLst>
            </p:cNvPr>
            <p:cNvSpPr txBox="1"/>
            <p:nvPr/>
          </p:nvSpPr>
          <p:spPr>
            <a:xfrm>
              <a:off x="3162300" y="2111828"/>
              <a:ext cx="778328" cy="246221"/>
            </a:xfrm>
            <a:prstGeom prst="rect">
              <a:avLst/>
            </a:prstGeom>
            <a:noFill/>
          </p:spPr>
          <p:txBody>
            <a:bodyPr wrap="square" rtlCol="0">
              <a:spAutoFit/>
            </a:bodyPr>
            <a:lstStyle/>
            <a:p>
              <a:r>
                <a:rPr lang="en-US" altLang="zh-CN" sz="1000" dirty="0" err="1"/>
                <a:t>i_sub</a:t>
              </a:r>
              <a:endParaRPr lang="zh-CN" altLang="en-US" sz="1000" dirty="0"/>
            </a:p>
          </p:txBody>
        </p:sp>
        <p:sp>
          <p:nvSpPr>
            <p:cNvPr id="9" name="矩形 8">
              <a:extLst>
                <a:ext uri="{FF2B5EF4-FFF2-40B4-BE49-F238E27FC236}">
                  <a16:creationId xmlns:a16="http://schemas.microsoft.com/office/drawing/2014/main" id="{2073D164-863B-3A48-704D-CA3B653D2C0E}"/>
                </a:ext>
              </a:extLst>
            </p:cNvPr>
            <p:cNvSpPr/>
            <p:nvPr/>
          </p:nvSpPr>
          <p:spPr>
            <a:xfrm>
              <a:off x="2008415" y="2424781"/>
              <a:ext cx="174171" cy="12311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E1FB2B73-9AA3-AC54-ADD8-6C65BD44A4FE}"/>
                </a:ext>
              </a:extLst>
            </p:cNvPr>
            <p:cNvSpPr/>
            <p:nvPr/>
          </p:nvSpPr>
          <p:spPr>
            <a:xfrm>
              <a:off x="2008415" y="2914512"/>
              <a:ext cx="174171" cy="12311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9607E2CC-3813-1C53-080F-CD50CB440F8E}"/>
                </a:ext>
              </a:extLst>
            </p:cNvPr>
            <p:cNvSpPr/>
            <p:nvPr/>
          </p:nvSpPr>
          <p:spPr>
            <a:xfrm>
              <a:off x="6384472" y="2539476"/>
              <a:ext cx="174171" cy="12311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92E3AA97-9881-4F7B-7647-2171E7FB69B0}"/>
                </a:ext>
              </a:extLst>
            </p:cNvPr>
            <p:cNvSpPr/>
            <p:nvPr/>
          </p:nvSpPr>
          <p:spPr>
            <a:xfrm>
              <a:off x="3728357" y="2419604"/>
              <a:ext cx="979714" cy="66105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A4080A4E-D6D1-0EF7-47FC-932134EB64E2}"/>
                </a:ext>
              </a:extLst>
            </p:cNvPr>
            <p:cNvSpPr/>
            <p:nvPr/>
          </p:nvSpPr>
          <p:spPr>
            <a:xfrm>
              <a:off x="3020785" y="2419604"/>
              <a:ext cx="174171" cy="123111"/>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7CADE90-9766-490D-245A-BC8E1DCF0AA4}"/>
                </a:ext>
              </a:extLst>
            </p:cNvPr>
            <p:cNvSpPr/>
            <p:nvPr/>
          </p:nvSpPr>
          <p:spPr>
            <a:xfrm>
              <a:off x="3031672" y="2926434"/>
              <a:ext cx="174171" cy="123111"/>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F74489B-78BA-BB31-3914-FD11A4751475}"/>
                </a:ext>
              </a:extLst>
            </p:cNvPr>
            <p:cNvSpPr/>
            <p:nvPr/>
          </p:nvSpPr>
          <p:spPr>
            <a:xfrm>
              <a:off x="5312226" y="2531695"/>
              <a:ext cx="174171" cy="123111"/>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a:extLst>
                <a:ext uri="{FF2B5EF4-FFF2-40B4-BE49-F238E27FC236}">
                  <a16:creationId xmlns:a16="http://schemas.microsoft.com/office/drawing/2014/main" id="{A24CD8FD-C658-F881-BDAC-11166EE96AE1}"/>
                </a:ext>
              </a:extLst>
            </p:cNvPr>
            <p:cNvCxnSpPr>
              <a:cxnSpLocks/>
            </p:cNvCxnSpPr>
            <p:nvPr/>
          </p:nvCxnSpPr>
          <p:spPr>
            <a:xfrm>
              <a:off x="2198916" y="2976066"/>
              <a:ext cx="821869" cy="11923"/>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27D9A4BF-AD38-90D8-68F5-1DB61A114662}"/>
                </a:ext>
              </a:extLst>
            </p:cNvPr>
            <p:cNvCxnSpPr>
              <a:cxnSpLocks/>
            </p:cNvCxnSpPr>
            <p:nvPr/>
          </p:nvCxnSpPr>
          <p:spPr>
            <a:xfrm>
              <a:off x="2182586" y="2466124"/>
              <a:ext cx="821869" cy="11923"/>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D1A50441-3939-D70F-0553-94C92F5F16C6}"/>
                </a:ext>
              </a:extLst>
            </p:cNvPr>
            <p:cNvCxnSpPr>
              <a:cxnSpLocks/>
            </p:cNvCxnSpPr>
            <p:nvPr/>
          </p:nvCxnSpPr>
          <p:spPr>
            <a:xfrm>
              <a:off x="5516335" y="2581327"/>
              <a:ext cx="821869" cy="11923"/>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684BC20-F66E-CBE1-2C7D-F5F7178B5F7F}"/>
                </a:ext>
              </a:extLst>
            </p:cNvPr>
            <p:cNvCxnSpPr>
              <a:cxnSpLocks/>
              <a:endCxn id="9" idx="1"/>
            </p:cNvCxnSpPr>
            <p:nvPr/>
          </p:nvCxnSpPr>
          <p:spPr>
            <a:xfrm>
              <a:off x="1782535" y="2486337"/>
              <a:ext cx="225880" cy="0"/>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D6B93663-6A56-D1D1-6E94-5B0DD43A0BE6}"/>
                </a:ext>
              </a:extLst>
            </p:cNvPr>
            <p:cNvCxnSpPr>
              <a:cxnSpLocks/>
            </p:cNvCxnSpPr>
            <p:nvPr/>
          </p:nvCxnSpPr>
          <p:spPr>
            <a:xfrm>
              <a:off x="1782535" y="2997826"/>
              <a:ext cx="225880" cy="0"/>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6AD6C02-C01A-0A8F-FC7F-241CF23B27BA}"/>
                </a:ext>
              </a:extLst>
            </p:cNvPr>
            <p:cNvCxnSpPr>
              <a:cxnSpLocks/>
            </p:cNvCxnSpPr>
            <p:nvPr/>
          </p:nvCxnSpPr>
          <p:spPr>
            <a:xfrm>
              <a:off x="6558643" y="2601031"/>
              <a:ext cx="265340" cy="0"/>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C09D0AD0-C50A-C77C-7DC0-310C1A953F7B}"/>
                </a:ext>
              </a:extLst>
            </p:cNvPr>
            <p:cNvSpPr txBox="1"/>
            <p:nvPr/>
          </p:nvSpPr>
          <p:spPr>
            <a:xfrm>
              <a:off x="1605645" y="2178421"/>
              <a:ext cx="446314" cy="246221"/>
            </a:xfrm>
            <a:prstGeom prst="rect">
              <a:avLst/>
            </a:prstGeom>
            <a:noFill/>
          </p:spPr>
          <p:txBody>
            <a:bodyPr wrap="square" rtlCol="0">
              <a:spAutoFit/>
            </a:bodyPr>
            <a:lstStyle/>
            <a:p>
              <a:r>
                <a:rPr lang="en-US" altLang="zh-CN" sz="1000" dirty="0" err="1"/>
                <a:t>clk</a:t>
              </a:r>
              <a:endParaRPr lang="zh-CN" altLang="en-US" sz="1000" dirty="0"/>
            </a:p>
          </p:txBody>
        </p:sp>
        <p:sp>
          <p:nvSpPr>
            <p:cNvPr id="31" name="文本框 30">
              <a:extLst>
                <a:ext uri="{FF2B5EF4-FFF2-40B4-BE49-F238E27FC236}">
                  <a16:creationId xmlns:a16="http://schemas.microsoft.com/office/drawing/2014/main" id="{5489B74B-9C66-B1C5-F0B1-8F371ECECDE3}"/>
                </a:ext>
              </a:extLst>
            </p:cNvPr>
            <p:cNvSpPr txBox="1"/>
            <p:nvPr/>
          </p:nvSpPr>
          <p:spPr>
            <a:xfrm>
              <a:off x="1594761" y="2741768"/>
              <a:ext cx="446314" cy="246221"/>
            </a:xfrm>
            <a:prstGeom prst="rect">
              <a:avLst/>
            </a:prstGeom>
            <a:noFill/>
          </p:spPr>
          <p:txBody>
            <a:bodyPr wrap="square" rtlCol="0">
              <a:spAutoFit/>
            </a:bodyPr>
            <a:lstStyle/>
            <a:p>
              <a:r>
                <a:rPr lang="en-US" altLang="zh-CN" sz="1000" dirty="0" err="1"/>
                <a:t>rst</a:t>
              </a:r>
              <a:endParaRPr lang="zh-CN" altLang="en-US" sz="1000" dirty="0"/>
            </a:p>
          </p:txBody>
        </p:sp>
        <p:sp>
          <p:nvSpPr>
            <p:cNvPr id="32" name="文本框 31">
              <a:extLst>
                <a:ext uri="{FF2B5EF4-FFF2-40B4-BE49-F238E27FC236}">
                  <a16:creationId xmlns:a16="http://schemas.microsoft.com/office/drawing/2014/main" id="{0213F47C-C652-F794-DC07-9DA071F4B7EA}"/>
                </a:ext>
              </a:extLst>
            </p:cNvPr>
            <p:cNvSpPr txBox="1"/>
            <p:nvPr/>
          </p:nvSpPr>
          <p:spPr>
            <a:xfrm>
              <a:off x="6550477" y="2662587"/>
              <a:ext cx="446314" cy="246221"/>
            </a:xfrm>
            <a:prstGeom prst="rect">
              <a:avLst/>
            </a:prstGeom>
            <a:noFill/>
          </p:spPr>
          <p:txBody>
            <a:bodyPr wrap="square" rtlCol="0">
              <a:spAutoFit/>
            </a:bodyPr>
            <a:lstStyle/>
            <a:p>
              <a:r>
                <a:rPr lang="en-US" altLang="zh-CN" sz="1000" dirty="0"/>
                <a:t>out</a:t>
              </a:r>
              <a:endParaRPr lang="zh-CN" altLang="en-US" sz="1000" dirty="0"/>
            </a:p>
          </p:txBody>
        </p:sp>
        <p:sp>
          <p:nvSpPr>
            <p:cNvPr id="33" name="文本框 32">
              <a:extLst>
                <a:ext uri="{FF2B5EF4-FFF2-40B4-BE49-F238E27FC236}">
                  <a16:creationId xmlns:a16="http://schemas.microsoft.com/office/drawing/2014/main" id="{01136677-F02B-DA14-5274-17DD0F0A7121}"/>
                </a:ext>
              </a:extLst>
            </p:cNvPr>
            <p:cNvSpPr txBox="1"/>
            <p:nvPr/>
          </p:nvSpPr>
          <p:spPr>
            <a:xfrm>
              <a:off x="3870551" y="2601031"/>
              <a:ext cx="778328" cy="246221"/>
            </a:xfrm>
            <a:prstGeom prst="rect">
              <a:avLst/>
            </a:prstGeom>
            <a:noFill/>
          </p:spPr>
          <p:txBody>
            <a:bodyPr wrap="square" rtlCol="0">
              <a:spAutoFit/>
            </a:bodyPr>
            <a:lstStyle/>
            <a:p>
              <a:r>
                <a:rPr lang="en-US" altLang="zh-CN" sz="1000" dirty="0"/>
                <a:t>$DFFSR</a:t>
              </a:r>
              <a:endParaRPr lang="zh-CN" altLang="en-US" sz="1000" dirty="0"/>
            </a:p>
          </p:txBody>
        </p:sp>
        <p:sp>
          <p:nvSpPr>
            <p:cNvPr id="34" name="矩形 33">
              <a:extLst>
                <a:ext uri="{FF2B5EF4-FFF2-40B4-BE49-F238E27FC236}">
                  <a16:creationId xmlns:a16="http://schemas.microsoft.com/office/drawing/2014/main" id="{B579025B-7BAC-58DE-EC7F-874B22474071}"/>
                </a:ext>
              </a:extLst>
            </p:cNvPr>
            <p:cNvSpPr/>
            <p:nvPr/>
          </p:nvSpPr>
          <p:spPr>
            <a:xfrm>
              <a:off x="3637191" y="2798665"/>
              <a:ext cx="174171" cy="123111"/>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59CA2E60-1E59-2009-A524-4815E39FAF6E}"/>
                </a:ext>
              </a:extLst>
            </p:cNvPr>
            <p:cNvSpPr/>
            <p:nvPr/>
          </p:nvSpPr>
          <p:spPr>
            <a:xfrm>
              <a:off x="4171948" y="3019101"/>
              <a:ext cx="174171" cy="123111"/>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3A5083D0-49E5-7E55-0D33-F66809A0C304}"/>
                </a:ext>
              </a:extLst>
            </p:cNvPr>
            <p:cNvSpPr/>
            <p:nvPr/>
          </p:nvSpPr>
          <p:spPr>
            <a:xfrm>
              <a:off x="4620985" y="2519771"/>
              <a:ext cx="174171" cy="123111"/>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529B3F19-ECEA-F965-3914-26F9C99AEC10}"/>
                </a:ext>
              </a:extLst>
            </p:cNvPr>
            <p:cNvSpPr/>
            <p:nvPr/>
          </p:nvSpPr>
          <p:spPr>
            <a:xfrm>
              <a:off x="3637190" y="2525732"/>
              <a:ext cx="174171" cy="123111"/>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E1732E8A-F4B2-8FC5-9B2F-A78EE5B67319}"/>
                </a:ext>
              </a:extLst>
            </p:cNvPr>
            <p:cNvSpPr txBox="1"/>
            <p:nvPr/>
          </p:nvSpPr>
          <p:spPr>
            <a:xfrm>
              <a:off x="3592967" y="2459780"/>
              <a:ext cx="446314" cy="246221"/>
            </a:xfrm>
            <a:prstGeom prst="rect">
              <a:avLst/>
            </a:prstGeom>
            <a:noFill/>
          </p:spPr>
          <p:txBody>
            <a:bodyPr wrap="square" rtlCol="0">
              <a:spAutoFit/>
            </a:bodyPr>
            <a:lstStyle/>
            <a:p>
              <a:r>
                <a:rPr lang="en-US" altLang="zh-CN" sz="1000" dirty="0"/>
                <a:t>D</a:t>
              </a:r>
              <a:endParaRPr lang="zh-CN" altLang="en-US" sz="1000" dirty="0"/>
            </a:p>
          </p:txBody>
        </p:sp>
        <p:sp>
          <p:nvSpPr>
            <p:cNvPr id="39" name="文本框 38">
              <a:extLst>
                <a:ext uri="{FF2B5EF4-FFF2-40B4-BE49-F238E27FC236}">
                  <a16:creationId xmlns:a16="http://schemas.microsoft.com/office/drawing/2014/main" id="{B08B4E89-5F2F-A9AD-EA7F-D70544D3D52D}"/>
                </a:ext>
              </a:extLst>
            </p:cNvPr>
            <p:cNvSpPr txBox="1"/>
            <p:nvPr/>
          </p:nvSpPr>
          <p:spPr>
            <a:xfrm>
              <a:off x="3543299" y="2727616"/>
              <a:ext cx="446314" cy="246221"/>
            </a:xfrm>
            <a:prstGeom prst="rect">
              <a:avLst/>
            </a:prstGeom>
            <a:noFill/>
          </p:spPr>
          <p:txBody>
            <a:bodyPr wrap="square" rtlCol="0">
              <a:spAutoFit/>
            </a:bodyPr>
            <a:lstStyle/>
            <a:p>
              <a:r>
                <a:rPr lang="en-US" altLang="zh-CN" sz="1000" dirty="0"/>
                <a:t>CLK</a:t>
              </a:r>
              <a:endParaRPr lang="zh-CN" altLang="en-US" sz="1000" dirty="0"/>
            </a:p>
          </p:txBody>
        </p:sp>
        <p:sp>
          <p:nvSpPr>
            <p:cNvPr id="40" name="文本框 39">
              <a:extLst>
                <a:ext uri="{FF2B5EF4-FFF2-40B4-BE49-F238E27FC236}">
                  <a16:creationId xmlns:a16="http://schemas.microsoft.com/office/drawing/2014/main" id="{BE4E16C6-659A-113D-9378-E69B9C9E9E34}"/>
                </a:ext>
              </a:extLst>
            </p:cNvPr>
            <p:cNvSpPr txBox="1"/>
            <p:nvPr/>
          </p:nvSpPr>
          <p:spPr>
            <a:xfrm>
              <a:off x="4080779" y="2969702"/>
              <a:ext cx="446314" cy="246221"/>
            </a:xfrm>
            <a:prstGeom prst="rect">
              <a:avLst/>
            </a:prstGeom>
            <a:noFill/>
          </p:spPr>
          <p:txBody>
            <a:bodyPr wrap="square" rtlCol="0">
              <a:spAutoFit/>
            </a:bodyPr>
            <a:lstStyle/>
            <a:p>
              <a:r>
                <a:rPr lang="en-US" altLang="zh-CN" sz="1000" dirty="0"/>
                <a:t>RST</a:t>
              </a:r>
              <a:endParaRPr lang="zh-CN" altLang="en-US" sz="1000" dirty="0"/>
            </a:p>
          </p:txBody>
        </p:sp>
        <p:sp>
          <p:nvSpPr>
            <p:cNvPr id="41" name="文本框 40">
              <a:extLst>
                <a:ext uri="{FF2B5EF4-FFF2-40B4-BE49-F238E27FC236}">
                  <a16:creationId xmlns:a16="http://schemas.microsoft.com/office/drawing/2014/main" id="{43220EAC-0E10-10F9-195D-0C31763B6985}"/>
                </a:ext>
              </a:extLst>
            </p:cNvPr>
            <p:cNvSpPr txBox="1"/>
            <p:nvPr/>
          </p:nvSpPr>
          <p:spPr>
            <a:xfrm>
              <a:off x="4580163" y="2439765"/>
              <a:ext cx="446314" cy="246221"/>
            </a:xfrm>
            <a:prstGeom prst="rect">
              <a:avLst/>
            </a:prstGeom>
            <a:noFill/>
          </p:spPr>
          <p:txBody>
            <a:bodyPr wrap="square" rtlCol="0">
              <a:spAutoFit/>
            </a:bodyPr>
            <a:lstStyle/>
            <a:p>
              <a:r>
                <a:rPr lang="en-US" altLang="zh-CN" sz="1000" dirty="0"/>
                <a:t>Q</a:t>
              </a:r>
              <a:endParaRPr lang="zh-CN" altLang="en-US" sz="1000" dirty="0"/>
            </a:p>
          </p:txBody>
        </p:sp>
        <p:sp>
          <p:nvSpPr>
            <p:cNvPr id="42" name="矩形 41">
              <a:extLst>
                <a:ext uri="{FF2B5EF4-FFF2-40B4-BE49-F238E27FC236}">
                  <a16:creationId xmlns:a16="http://schemas.microsoft.com/office/drawing/2014/main" id="{120A1AFB-555F-B3C4-81DB-078411DE5927}"/>
                </a:ext>
              </a:extLst>
            </p:cNvPr>
            <p:cNvSpPr/>
            <p:nvPr/>
          </p:nvSpPr>
          <p:spPr>
            <a:xfrm>
              <a:off x="3369124" y="3191842"/>
              <a:ext cx="442237" cy="30182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文本框 42">
              <a:extLst>
                <a:ext uri="{FF2B5EF4-FFF2-40B4-BE49-F238E27FC236}">
                  <a16:creationId xmlns:a16="http://schemas.microsoft.com/office/drawing/2014/main" id="{90EAAEAA-672C-6D7E-873E-0F0B8713A367}"/>
                </a:ext>
              </a:extLst>
            </p:cNvPr>
            <p:cNvSpPr txBox="1"/>
            <p:nvPr/>
          </p:nvSpPr>
          <p:spPr>
            <a:xfrm>
              <a:off x="3351440" y="3214489"/>
              <a:ext cx="778328" cy="246221"/>
            </a:xfrm>
            <a:prstGeom prst="rect">
              <a:avLst/>
            </a:prstGeom>
            <a:noFill/>
          </p:spPr>
          <p:txBody>
            <a:bodyPr wrap="square" rtlCol="0">
              <a:spAutoFit/>
            </a:bodyPr>
            <a:lstStyle/>
            <a:p>
              <a:r>
                <a:rPr lang="en-US" altLang="zh-CN" sz="1000" dirty="0"/>
                <a:t>$NOT</a:t>
              </a:r>
              <a:endParaRPr lang="zh-CN" altLang="en-US" sz="1000" dirty="0"/>
            </a:p>
          </p:txBody>
        </p:sp>
        <p:sp>
          <p:nvSpPr>
            <p:cNvPr id="44" name="矩形 43">
              <a:extLst>
                <a:ext uri="{FF2B5EF4-FFF2-40B4-BE49-F238E27FC236}">
                  <a16:creationId xmlns:a16="http://schemas.microsoft.com/office/drawing/2014/main" id="{67CB351E-AB3E-C77A-755C-247D3753858A}"/>
                </a:ext>
              </a:extLst>
            </p:cNvPr>
            <p:cNvSpPr/>
            <p:nvPr/>
          </p:nvSpPr>
          <p:spPr>
            <a:xfrm>
              <a:off x="3763736" y="3292521"/>
              <a:ext cx="174171" cy="123111"/>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C2E09530-AA54-C8E3-793A-58DB2EFAC55C}"/>
                </a:ext>
              </a:extLst>
            </p:cNvPr>
            <p:cNvSpPr/>
            <p:nvPr/>
          </p:nvSpPr>
          <p:spPr>
            <a:xfrm>
              <a:off x="3252789" y="3276045"/>
              <a:ext cx="174171" cy="123111"/>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B255135C-095E-FB4A-DFC3-BF3BE6E87679}"/>
                </a:ext>
              </a:extLst>
            </p:cNvPr>
            <p:cNvSpPr txBox="1"/>
            <p:nvPr/>
          </p:nvSpPr>
          <p:spPr>
            <a:xfrm>
              <a:off x="3714750" y="3245616"/>
              <a:ext cx="446314" cy="246221"/>
            </a:xfrm>
            <a:prstGeom prst="rect">
              <a:avLst/>
            </a:prstGeom>
            <a:noFill/>
          </p:spPr>
          <p:txBody>
            <a:bodyPr wrap="square" rtlCol="0">
              <a:spAutoFit/>
            </a:bodyPr>
            <a:lstStyle/>
            <a:p>
              <a:r>
                <a:rPr lang="en-US" altLang="zh-CN" sz="1000" dirty="0"/>
                <a:t>Y</a:t>
              </a:r>
              <a:endParaRPr lang="zh-CN" altLang="en-US" sz="1000" dirty="0"/>
            </a:p>
          </p:txBody>
        </p:sp>
        <p:sp>
          <p:nvSpPr>
            <p:cNvPr id="47" name="文本框 46">
              <a:extLst>
                <a:ext uri="{FF2B5EF4-FFF2-40B4-BE49-F238E27FC236}">
                  <a16:creationId xmlns:a16="http://schemas.microsoft.com/office/drawing/2014/main" id="{CB4150DF-061D-AA85-D59D-1770CB5ED8EF}"/>
                </a:ext>
              </a:extLst>
            </p:cNvPr>
            <p:cNvSpPr txBox="1"/>
            <p:nvPr/>
          </p:nvSpPr>
          <p:spPr>
            <a:xfrm>
              <a:off x="3235779" y="3181536"/>
              <a:ext cx="446314" cy="246221"/>
            </a:xfrm>
            <a:prstGeom prst="rect">
              <a:avLst/>
            </a:prstGeom>
            <a:noFill/>
          </p:spPr>
          <p:txBody>
            <a:bodyPr wrap="square" rtlCol="0">
              <a:spAutoFit/>
            </a:bodyPr>
            <a:lstStyle/>
            <a:p>
              <a:r>
                <a:rPr lang="en-US" altLang="zh-CN" sz="1000" dirty="0"/>
                <a:t>A</a:t>
              </a:r>
              <a:endParaRPr lang="zh-CN" altLang="en-US" sz="1000" dirty="0"/>
            </a:p>
          </p:txBody>
        </p:sp>
        <p:cxnSp>
          <p:nvCxnSpPr>
            <p:cNvPr id="48" name="直接箭头连接符 47">
              <a:extLst>
                <a:ext uri="{FF2B5EF4-FFF2-40B4-BE49-F238E27FC236}">
                  <a16:creationId xmlns:a16="http://schemas.microsoft.com/office/drawing/2014/main" id="{2168884E-8E8A-FF62-22B8-D1465466FC66}"/>
                </a:ext>
              </a:extLst>
            </p:cNvPr>
            <p:cNvCxnSpPr>
              <a:cxnSpLocks/>
              <a:stCxn id="22" idx="3"/>
              <a:endCxn id="47" idx="1"/>
            </p:cNvCxnSpPr>
            <p:nvPr/>
          </p:nvCxnSpPr>
          <p:spPr>
            <a:xfrm>
              <a:off x="3205843" y="2987990"/>
              <a:ext cx="29936" cy="316657"/>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43CDDCC1-60AB-D323-4DD4-94D0A2E92182}"/>
                </a:ext>
              </a:extLst>
            </p:cNvPr>
            <p:cNvCxnSpPr>
              <a:cxnSpLocks/>
            </p:cNvCxnSpPr>
            <p:nvPr/>
          </p:nvCxnSpPr>
          <p:spPr>
            <a:xfrm flipV="1">
              <a:off x="3939607" y="3098255"/>
              <a:ext cx="281326" cy="269306"/>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7334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B64DD3A-3DB9-6A39-5260-DD87A804A6CC}"/>
              </a:ext>
            </a:extLst>
          </p:cNvPr>
          <p:cNvSpPr>
            <a:spLocks noGrp="1"/>
          </p:cNvSpPr>
          <p:nvPr>
            <p:ph type="body" sz="quarter" idx="13"/>
          </p:nvPr>
        </p:nvSpPr>
        <p:spPr/>
        <p:txBody>
          <a:bodyPr/>
          <a:lstStyle/>
          <a:p>
            <a:r>
              <a:rPr lang="en-US" altLang="zh-CN" dirty="0"/>
              <a:t>Core Data Model</a:t>
            </a:r>
            <a:endParaRPr lang="zh-CN" altLang="en-US" dirty="0"/>
          </a:p>
          <a:p>
            <a:endParaRPr lang="zh-CN" altLang="en-US" dirty="0"/>
          </a:p>
        </p:txBody>
      </p:sp>
      <p:pic>
        <p:nvPicPr>
          <p:cNvPr id="5" name="image8.jpg">
            <a:extLst>
              <a:ext uri="{FF2B5EF4-FFF2-40B4-BE49-F238E27FC236}">
                <a16:creationId xmlns:a16="http://schemas.microsoft.com/office/drawing/2014/main" id="{FF30B25A-278F-2DE0-6856-F4EE802EBF18}"/>
              </a:ext>
            </a:extLst>
          </p:cNvPr>
          <p:cNvPicPr/>
          <p:nvPr/>
        </p:nvPicPr>
        <p:blipFill>
          <a:blip r:embed="rId2"/>
          <a:srcRect/>
          <a:stretch>
            <a:fillRect/>
          </a:stretch>
        </p:blipFill>
        <p:spPr>
          <a:xfrm>
            <a:off x="511629" y="3582465"/>
            <a:ext cx="4069895" cy="1725938"/>
          </a:xfrm>
          <a:prstGeom prst="rect">
            <a:avLst/>
          </a:prstGeom>
          <a:ln/>
        </p:spPr>
      </p:pic>
      <p:pic>
        <p:nvPicPr>
          <p:cNvPr id="6" name="image11.jpg">
            <a:extLst>
              <a:ext uri="{FF2B5EF4-FFF2-40B4-BE49-F238E27FC236}">
                <a16:creationId xmlns:a16="http://schemas.microsoft.com/office/drawing/2014/main" id="{3039DB8D-71CE-7643-EB84-133B5CA16E19}"/>
              </a:ext>
            </a:extLst>
          </p:cNvPr>
          <p:cNvPicPr/>
          <p:nvPr/>
        </p:nvPicPr>
        <p:blipFill>
          <a:blip r:embed="rId3"/>
          <a:srcRect/>
          <a:stretch>
            <a:fillRect/>
          </a:stretch>
        </p:blipFill>
        <p:spPr>
          <a:xfrm>
            <a:off x="511629" y="1142231"/>
            <a:ext cx="3606075" cy="2057400"/>
          </a:xfrm>
          <a:prstGeom prst="rect">
            <a:avLst/>
          </a:prstGeom>
          <a:ln/>
        </p:spPr>
      </p:pic>
      <p:pic>
        <p:nvPicPr>
          <p:cNvPr id="7" name="image13.jpg">
            <a:extLst>
              <a:ext uri="{FF2B5EF4-FFF2-40B4-BE49-F238E27FC236}">
                <a16:creationId xmlns:a16="http://schemas.microsoft.com/office/drawing/2014/main" id="{D6FB15E2-3404-7C6B-1875-53E4716E46F8}"/>
              </a:ext>
            </a:extLst>
          </p:cNvPr>
          <p:cNvPicPr/>
          <p:nvPr/>
        </p:nvPicPr>
        <p:blipFill>
          <a:blip r:embed="rId4"/>
          <a:srcRect/>
          <a:stretch>
            <a:fillRect/>
          </a:stretch>
        </p:blipFill>
        <p:spPr>
          <a:xfrm>
            <a:off x="5979479" y="627755"/>
            <a:ext cx="3442788" cy="1735772"/>
          </a:xfrm>
          <a:prstGeom prst="rect">
            <a:avLst/>
          </a:prstGeom>
          <a:ln/>
        </p:spPr>
      </p:pic>
      <p:pic>
        <p:nvPicPr>
          <p:cNvPr id="8" name="image12.jpg">
            <a:extLst>
              <a:ext uri="{FF2B5EF4-FFF2-40B4-BE49-F238E27FC236}">
                <a16:creationId xmlns:a16="http://schemas.microsoft.com/office/drawing/2014/main" id="{5069E7C5-0A78-2E0A-B918-335F55ADA8A9}"/>
              </a:ext>
            </a:extLst>
          </p:cNvPr>
          <p:cNvPicPr/>
          <p:nvPr/>
        </p:nvPicPr>
        <p:blipFill>
          <a:blip r:embed="rId5"/>
          <a:srcRect/>
          <a:stretch>
            <a:fillRect/>
          </a:stretch>
        </p:blipFill>
        <p:spPr>
          <a:xfrm>
            <a:off x="7279641" y="2899424"/>
            <a:ext cx="3942852" cy="1605266"/>
          </a:xfrm>
          <a:prstGeom prst="rect">
            <a:avLst/>
          </a:prstGeom>
          <a:ln/>
        </p:spPr>
      </p:pic>
      <p:pic>
        <p:nvPicPr>
          <p:cNvPr id="9" name="image9.jpg">
            <a:extLst>
              <a:ext uri="{FF2B5EF4-FFF2-40B4-BE49-F238E27FC236}">
                <a16:creationId xmlns:a16="http://schemas.microsoft.com/office/drawing/2014/main" id="{C7E00043-2CEC-6A2A-7D6E-A0DE65E8593C}"/>
              </a:ext>
            </a:extLst>
          </p:cNvPr>
          <p:cNvPicPr/>
          <p:nvPr/>
        </p:nvPicPr>
        <p:blipFill>
          <a:blip r:embed="rId6"/>
          <a:srcRect/>
          <a:stretch>
            <a:fillRect/>
          </a:stretch>
        </p:blipFill>
        <p:spPr>
          <a:xfrm>
            <a:off x="7378292" y="4849584"/>
            <a:ext cx="3942852" cy="1502229"/>
          </a:xfrm>
          <a:prstGeom prst="rect">
            <a:avLst/>
          </a:prstGeom>
          <a:ln/>
        </p:spPr>
      </p:pic>
    </p:spTree>
    <p:extLst>
      <p:ext uri="{BB962C8B-B14F-4D97-AF65-F5344CB8AC3E}">
        <p14:creationId xmlns:p14="http://schemas.microsoft.com/office/powerpoint/2010/main" val="1480677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9AE14C6-B80B-4206-9BE9-AECEDCCCDD0D}"/>
              </a:ext>
            </a:extLst>
          </p:cNvPr>
          <p:cNvSpPr>
            <a:spLocks noGrp="1"/>
          </p:cNvSpPr>
          <p:nvPr>
            <p:ph type="body" sz="quarter" idx="13"/>
          </p:nvPr>
        </p:nvSpPr>
        <p:spPr/>
        <p:txBody>
          <a:bodyPr/>
          <a:lstStyle/>
          <a:p>
            <a:r>
              <a:rPr lang="en-US" altLang="zh-CN" dirty="0"/>
              <a:t>Core Data Model</a:t>
            </a:r>
          </a:p>
          <a:p>
            <a:endParaRPr lang="zh-CN" altLang="en-US" dirty="0"/>
          </a:p>
        </p:txBody>
      </p:sp>
      <p:pic>
        <p:nvPicPr>
          <p:cNvPr id="6" name="图片 5">
            <a:extLst>
              <a:ext uri="{FF2B5EF4-FFF2-40B4-BE49-F238E27FC236}">
                <a16:creationId xmlns:a16="http://schemas.microsoft.com/office/drawing/2014/main" id="{AA9B1355-2FD1-597E-E935-6EE3BF5F97CD}"/>
              </a:ext>
            </a:extLst>
          </p:cNvPr>
          <p:cNvPicPr>
            <a:picLocks noChangeAspect="1"/>
          </p:cNvPicPr>
          <p:nvPr/>
        </p:nvPicPr>
        <p:blipFill>
          <a:blip r:embed="rId2"/>
          <a:stretch>
            <a:fillRect/>
          </a:stretch>
        </p:blipFill>
        <p:spPr>
          <a:xfrm>
            <a:off x="4741690" y="1099456"/>
            <a:ext cx="5912757" cy="4582887"/>
          </a:xfrm>
          <a:prstGeom prst="rect">
            <a:avLst/>
          </a:prstGeom>
        </p:spPr>
      </p:pic>
      <p:sp>
        <p:nvSpPr>
          <p:cNvPr id="7" name="文本框 6">
            <a:extLst>
              <a:ext uri="{FF2B5EF4-FFF2-40B4-BE49-F238E27FC236}">
                <a16:creationId xmlns:a16="http://schemas.microsoft.com/office/drawing/2014/main" id="{7F6154B1-F0F8-144C-1F1E-89955BBEB957}"/>
              </a:ext>
            </a:extLst>
          </p:cNvPr>
          <p:cNvSpPr txBox="1"/>
          <p:nvPr/>
        </p:nvSpPr>
        <p:spPr>
          <a:xfrm>
            <a:off x="332014" y="1143000"/>
            <a:ext cx="2618015" cy="4462760"/>
          </a:xfrm>
          <a:prstGeom prst="rect">
            <a:avLst/>
          </a:prstGeom>
          <a:noFill/>
        </p:spPr>
        <p:txBody>
          <a:bodyPr wrap="square" rtlCol="0">
            <a:spAutoFit/>
          </a:bodyPr>
          <a:lstStyle/>
          <a:p>
            <a:r>
              <a:rPr lang="en-US" altLang="zh-CN" sz="1400" dirty="0">
                <a:solidFill>
                  <a:srgbClr val="00B050"/>
                </a:solidFill>
                <a:latin typeface="Times New Roman" panose="02020603050405020304" pitchFamily="18" charset="0"/>
                <a:cs typeface="Times New Roman" panose="02020603050405020304" pitchFamily="18" charset="0"/>
              </a:rPr>
              <a:t>struct RTLIL::</a:t>
            </a:r>
            <a:r>
              <a:rPr lang="en-US" altLang="zh-CN" sz="1400" dirty="0" err="1">
                <a:solidFill>
                  <a:srgbClr val="00B050"/>
                </a:solidFill>
                <a:latin typeface="Times New Roman" panose="02020603050405020304" pitchFamily="18" charset="0"/>
                <a:cs typeface="Times New Roman" panose="02020603050405020304" pitchFamily="18" charset="0"/>
              </a:rPr>
              <a:t>IdString</a:t>
            </a:r>
            <a:endParaRPr lang="en-US" altLang="zh-CN" sz="1400" dirty="0">
              <a:solidFill>
                <a:srgbClr val="00B050"/>
              </a:solidFill>
              <a:latin typeface="Times New Roman" panose="02020603050405020304" pitchFamily="18" charset="0"/>
              <a:cs typeface="Times New Roman" panose="02020603050405020304" pitchFamily="18" charset="0"/>
            </a:endParaRPr>
          </a:p>
          <a:p>
            <a:r>
              <a:rPr lang="en-US" altLang="zh-CN" sz="1400" dirty="0">
                <a:solidFill>
                  <a:srgbClr val="00B050"/>
                </a:solidFill>
                <a:latin typeface="Times New Roman" panose="02020603050405020304" pitchFamily="18" charset="0"/>
                <a:cs typeface="Times New Roman" panose="02020603050405020304" pitchFamily="18" charset="0"/>
              </a:rPr>
              <a:t>struct RTLIL::Const</a:t>
            </a:r>
          </a:p>
          <a:p>
            <a:r>
              <a:rPr lang="en-US" altLang="zh-CN" sz="1400" dirty="0">
                <a:solidFill>
                  <a:srgbClr val="FF0000"/>
                </a:solidFill>
                <a:latin typeface="Times New Roman" panose="02020603050405020304" pitchFamily="18" charset="0"/>
                <a:cs typeface="Times New Roman" panose="02020603050405020304" pitchFamily="18" charset="0"/>
              </a:rPr>
              <a:t>struct RTLIL::</a:t>
            </a:r>
            <a:r>
              <a:rPr lang="en-US" altLang="zh-CN" sz="1400" dirty="0" err="1">
                <a:solidFill>
                  <a:srgbClr val="FF0000"/>
                </a:solidFill>
                <a:latin typeface="Times New Roman" panose="02020603050405020304" pitchFamily="18" charset="0"/>
                <a:cs typeface="Times New Roman" panose="02020603050405020304" pitchFamily="18" charset="0"/>
              </a:rPr>
              <a:t>AttrObject</a:t>
            </a:r>
            <a:endParaRPr lang="en-US" altLang="zh-CN" sz="1400" dirty="0">
              <a:solidFill>
                <a:srgbClr val="FF0000"/>
              </a:solidFill>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RTLIL::Selection</a:t>
            </a:r>
          </a:p>
          <a:p>
            <a:r>
              <a:rPr lang="en-US" altLang="zh-CN" sz="1400" dirty="0">
                <a:latin typeface="Times New Roman" panose="02020603050405020304" pitchFamily="18" charset="0"/>
                <a:cs typeface="Times New Roman" panose="02020603050405020304" pitchFamily="18" charset="0"/>
              </a:rPr>
              <a:t>struct RTLIL::Monitor</a:t>
            </a:r>
          </a:p>
          <a:p>
            <a:r>
              <a:rPr lang="en-US" altLang="zh-CN" sz="1400" dirty="0">
                <a:solidFill>
                  <a:srgbClr val="FF0000"/>
                </a:solidFill>
                <a:latin typeface="Times New Roman" panose="02020603050405020304" pitchFamily="18" charset="0"/>
                <a:cs typeface="Times New Roman" panose="02020603050405020304" pitchFamily="18" charset="0"/>
              </a:rPr>
              <a:t>struct RTLIL::Design</a:t>
            </a:r>
          </a:p>
          <a:p>
            <a:r>
              <a:rPr lang="en-US" altLang="zh-CN" sz="1400" dirty="0">
                <a:solidFill>
                  <a:srgbClr val="FF0000"/>
                </a:solidFill>
                <a:latin typeface="Times New Roman" panose="02020603050405020304" pitchFamily="18" charset="0"/>
                <a:cs typeface="Times New Roman" panose="02020603050405020304" pitchFamily="18" charset="0"/>
              </a:rPr>
              <a:t>struct RTLIL::Module</a:t>
            </a:r>
          </a:p>
          <a:p>
            <a:r>
              <a:rPr lang="en-US" altLang="zh-CN" sz="1400" dirty="0">
                <a:solidFill>
                  <a:srgbClr val="FF0000"/>
                </a:solidFill>
                <a:latin typeface="Times New Roman" panose="02020603050405020304" pitchFamily="18" charset="0"/>
                <a:cs typeface="Times New Roman" panose="02020603050405020304" pitchFamily="18" charset="0"/>
              </a:rPr>
              <a:t>struct RTLIL::Wire</a:t>
            </a:r>
          </a:p>
          <a:p>
            <a:r>
              <a:rPr lang="en-US" altLang="zh-CN" sz="1400" dirty="0">
                <a:solidFill>
                  <a:srgbClr val="00B050"/>
                </a:solidFill>
                <a:latin typeface="Times New Roman" panose="02020603050405020304" pitchFamily="18" charset="0"/>
                <a:cs typeface="Times New Roman" panose="02020603050405020304" pitchFamily="18" charset="0"/>
              </a:rPr>
              <a:t>struct RTLIL::Memory</a:t>
            </a:r>
          </a:p>
          <a:p>
            <a:r>
              <a:rPr lang="en-US" altLang="zh-CN" sz="1400" dirty="0">
                <a:solidFill>
                  <a:srgbClr val="FF0000"/>
                </a:solidFill>
                <a:latin typeface="Times New Roman" panose="02020603050405020304" pitchFamily="18" charset="0"/>
                <a:cs typeface="Times New Roman" panose="02020603050405020304" pitchFamily="18" charset="0"/>
              </a:rPr>
              <a:t>struct RTLIL::Cell</a:t>
            </a:r>
          </a:p>
          <a:p>
            <a:r>
              <a:rPr lang="en-US" altLang="zh-CN" sz="1400" dirty="0">
                <a:solidFill>
                  <a:srgbClr val="00B050"/>
                </a:solidFill>
                <a:latin typeface="Times New Roman" panose="02020603050405020304" pitchFamily="18" charset="0"/>
                <a:cs typeface="Times New Roman" panose="02020603050405020304" pitchFamily="18" charset="0"/>
              </a:rPr>
              <a:t>struct RTLIL::</a:t>
            </a:r>
            <a:r>
              <a:rPr lang="en-US" altLang="zh-CN" sz="1400" dirty="0" err="1">
                <a:solidFill>
                  <a:srgbClr val="00B050"/>
                </a:solidFill>
                <a:latin typeface="Times New Roman" panose="02020603050405020304" pitchFamily="18" charset="0"/>
                <a:cs typeface="Times New Roman" panose="02020603050405020304" pitchFamily="18" charset="0"/>
              </a:rPr>
              <a:t>SigChunk</a:t>
            </a:r>
            <a:endParaRPr lang="en-US" altLang="zh-CN" sz="1400" dirty="0">
              <a:solidFill>
                <a:srgbClr val="00B050"/>
              </a:solidFill>
              <a:latin typeface="Times New Roman" panose="02020603050405020304" pitchFamily="18" charset="0"/>
              <a:cs typeface="Times New Roman" panose="02020603050405020304" pitchFamily="18" charset="0"/>
            </a:endParaRPr>
          </a:p>
          <a:p>
            <a:r>
              <a:rPr lang="en-US" altLang="zh-CN" sz="1400" dirty="0">
                <a:solidFill>
                  <a:srgbClr val="00B050"/>
                </a:solidFill>
                <a:latin typeface="Times New Roman" panose="02020603050405020304" pitchFamily="18" charset="0"/>
                <a:cs typeface="Times New Roman" panose="02020603050405020304" pitchFamily="18" charset="0"/>
              </a:rPr>
              <a:t>struct RTLIL::</a:t>
            </a:r>
            <a:r>
              <a:rPr lang="en-US" altLang="zh-CN" sz="1400" dirty="0" err="1">
                <a:solidFill>
                  <a:srgbClr val="00B050"/>
                </a:solidFill>
                <a:latin typeface="Times New Roman" panose="02020603050405020304" pitchFamily="18" charset="0"/>
                <a:cs typeface="Times New Roman" panose="02020603050405020304" pitchFamily="18" charset="0"/>
              </a:rPr>
              <a:t>SigBit</a:t>
            </a:r>
            <a:endParaRPr lang="en-US" altLang="zh-CN" sz="1400" dirty="0">
              <a:solidFill>
                <a:srgbClr val="00B050"/>
              </a:solidFill>
              <a:latin typeface="Times New Roman" panose="02020603050405020304" pitchFamily="18" charset="0"/>
              <a:cs typeface="Times New Roman" panose="02020603050405020304" pitchFamily="18" charset="0"/>
            </a:endParaRPr>
          </a:p>
          <a:p>
            <a:r>
              <a:rPr lang="en-US" altLang="zh-CN" sz="1400" dirty="0">
                <a:solidFill>
                  <a:srgbClr val="00B050"/>
                </a:solidFill>
                <a:latin typeface="Times New Roman" panose="02020603050405020304" pitchFamily="18" charset="0"/>
                <a:cs typeface="Times New Roman" panose="02020603050405020304" pitchFamily="18" charset="0"/>
              </a:rPr>
              <a:t>struct RTLIL::</a:t>
            </a:r>
            <a:r>
              <a:rPr lang="en-US" altLang="zh-CN" sz="1400" dirty="0" err="1">
                <a:solidFill>
                  <a:srgbClr val="00B050"/>
                </a:solidFill>
                <a:latin typeface="Times New Roman" panose="02020603050405020304" pitchFamily="18" charset="0"/>
                <a:cs typeface="Times New Roman" panose="02020603050405020304" pitchFamily="18" charset="0"/>
              </a:rPr>
              <a:t>SigSpec</a:t>
            </a:r>
            <a:endParaRPr lang="en-US" altLang="zh-CN" sz="1400" dirty="0">
              <a:solidFill>
                <a:srgbClr val="00B050"/>
              </a:solidFill>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a:t>
            </a:r>
            <a:r>
              <a:rPr lang="en-US" altLang="zh-CN" sz="1400" dirty="0" err="1">
                <a:latin typeface="Times New Roman" panose="02020603050405020304" pitchFamily="18" charset="0"/>
                <a:cs typeface="Times New Roman" panose="02020603050405020304" pitchFamily="18" charset="0"/>
              </a:rPr>
              <a:t>CaseRule</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a:t>
            </a:r>
            <a:r>
              <a:rPr lang="en-US" altLang="zh-CN" sz="1400" dirty="0" err="1">
                <a:latin typeface="Times New Roman" panose="02020603050405020304" pitchFamily="18" charset="0"/>
                <a:cs typeface="Times New Roman" panose="02020603050405020304" pitchFamily="18" charset="0"/>
              </a:rPr>
              <a:t>SwitchRule</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a:t>
            </a:r>
            <a:r>
              <a:rPr lang="en-US" altLang="zh-CN" sz="1400" dirty="0" err="1">
                <a:latin typeface="Times New Roman" panose="02020603050405020304" pitchFamily="18" charset="0"/>
                <a:cs typeface="Times New Roman" panose="02020603050405020304" pitchFamily="18" charset="0"/>
              </a:rPr>
              <a:t>MemWriteAction</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a:t>
            </a:r>
            <a:r>
              <a:rPr lang="en-US" altLang="zh-CN" sz="1400" dirty="0" err="1">
                <a:latin typeface="Times New Roman" panose="02020603050405020304" pitchFamily="18" charset="0"/>
                <a:cs typeface="Times New Roman" panose="02020603050405020304" pitchFamily="18" charset="0"/>
              </a:rPr>
              <a:t>SyncRule</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struct RTLIL::Process</a:t>
            </a:r>
          </a:p>
          <a:p>
            <a:r>
              <a:rPr lang="en-US" altLang="zh-CN" sz="1400" dirty="0">
                <a:latin typeface="Times New Roman" panose="02020603050405020304" pitchFamily="18" charset="0"/>
                <a:cs typeface="Times New Roman" panose="02020603050405020304" pitchFamily="18" charset="0"/>
              </a:rPr>
              <a:t>struct RTLIL::Binding</a:t>
            </a:r>
          </a:p>
          <a:p>
            <a:endParaRPr lang="zh-CN" altLang="en-US" dirty="0"/>
          </a:p>
        </p:txBody>
      </p:sp>
      <p:cxnSp>
        <p:nvCxnSpPr>
          <p:cNvPr id="9" name="连接符: 曲线 8">
            <a:extLst>
              <a:ext uri="{FF2B5EF4-FFF2-40B4-BE49-F238E27FC236}">
                <a16:creationId xmlns:a16="http://schemas.microsoft.com/office/drawing/2014/main" id="{21A09540-752A-1108-F5B7-2A6572BC5BC3}"/>
              </a:ext>
            </a:extLst>
          </p:cNvPr>
          <p:cNvCxnSpPr>
            <a:cxnSpLocks/>
          </p:cNvCxnSpPr>
          <p:nvPr/>
        </p:nvCxnSpPr>
        <p:spPr>
          <a:xfrm flipV="1">
            <a:off x="1932214" y="1252240"/>
            <a:ext cx="2884715" cy="110451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曲线 11">
            <a:extLst>
              <a:ext uri="{FF2B5EF4-FFF2-40B4-BE49-F238E27FC236}">
                <a16:creationId xmlns:a16="http://schemas.microsoft.com/office/drawing/2014/main" id="{5191CC45-65EA-9C6B-F08A-BFF229FC6490}"/>
              </a:ext>
            </a:extLst>
          </p:cNvPr>
          <p:cNvCxnSpPr/>
          <p:nvPr/>
        </p:nvCxnSpPr>
        <p:spPr>
          <a:xfrm>
            <a:off x="2019300" y="2574471"/>
            <a:ext cx="2797629" cy="68035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连接符: 曲线 13">
            <a:extLst>
              <a:ext uri="{FF2B5EF4-FFF2-40B4-BE49-F238E27FC236}">
                <a16:creationId xmlns:a16="http://schemas.microsoft.com/office/drawing/2014/main" id="{23AA8C96-C12A-F1E8-38E8-D758C21F1E72}"/>
              </a:ext>
            </a:extLst>
          </p:cNvPr>
          <p:cNvCxnSpPr/>
          <p:nvPr/>
        </p:nvCxnSpPr>
        <p:spPr>
          <a:xfrm>
            <a:off x="1763486" y="3243943"/>
            <a:ext cx="4332514" cy="111578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41440BB3-A83C-0D45-04C1-F137DF534116}"/>
              </a:ext>
            </a:extLst>
          </p:cNvPr>
          <p:cNvSpPr/>
          <p:nvPr/>
        </p:nvSpPr>
        <p:spPr>
          <a:xfrm>
            <a:off x="7396843" y="3673928"/>
            <a:ext cx="3257604" cy="2204358"/>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连接符: 曲线 16">
            <a:extLst>
              <a:ext uri="{FF2B5EF4-FFF2-40B4-BE49-F238E27FC236}">
                <a16:creationId xmlns:a16="http://schemas.microsoft.com/office/drawing/2014/main" id="{1F05A9CF-6009-29CC-C3E4-2ECFC9B50C7C}"/>
              </a:ext>
            </a:extLst>
          </p:cNvPr>
          <p:cNvCxnSpPr/>
          <p:nvPr/>
        </p:nvCxnSpPr>
        <p:spPr>
          <a:xfrm>
            <a:off x="1834243" y="2781300"/>
            <a:ext cx="5638800" cy="2383971"/>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连接符: 曲线 18">
            <a:extLst>
              <a:ext uri="{FF2B5EF4-FFF2-40B4-BE49-F238E27FC236}">
                <a16:creationId xmlns:a16="http://schemas.microsoft.com/office/drawing/2014/main" id="{ED6B9A17-48CF-B0C6-A792-6C225AEB584F}"/>
              </a:ext>
            </a:extLst>
          </p:cNvPr>
          <p:cNvCxnSpPr/>
          <p:nvPr/>
        </p:nvCxnSpPr>
        <p:spPr>
          <a:xfrm>
            <a:off x="2220686" y="1719943"/>
            <a:ext cx="6547757" cy="58782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349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内容占位符 3" descr="过度页"/>
          <p:cNvPicPr>
            <a:picLocks noGrp="1" noChangeAspect="1"/>
          </p:cNvPicPr>
          <p:nvPr>
            <p:ph idx="1"/>
          </p:nvPr>
        </p:nvPicPr>
        <p:blipFill>
          <a:blip r:embed="rId2"/>
          <a:srcRect r="23826" b="20040"/>
          <a:stretch>
            <a:fillRect/>
          </a:stretch>
        </p:blipFill>
        <p:spPr>
          <a:xfrm>
            <a:off x="-635" y="-635"/>
            <a:ext cx="12192635" cy="6858635"/>
          </a:xfrm>
          <a:prstGeom prst="rect">
            <a:avLst/>
          </a:prstGeom>
        </p:spPr>
      </p:pic>
      <p:sp>
        <p:nvSpPr>
          <p:cNvPr id="15" name="标题 14"/>
          <p:cNvSpPr>
            <a:spLocks noGrp="1"/>
          </p:cNvSpPr>
          <p:nvPr>
            <p:ph type="title"/>
          </p:nvPr>
        </p:nvSpPr>
        <p:spPr>
          <a:xfrm>
            <a:off x="221382" y="1933734"/>
            <a:ext cx="11800572" cy="1021222"/>
          </a:xfrm>
        </p:spPr>
        <p:txBody>
          <a:bodyPr>
            <a:normAutofit/>
          </a:bodyPr>
          <a:lstStyle/>
          <a:p>
            <a:pPr algn="ctr"/>
            <a:r>
              <a:rPr lang="en-US" altLang="zh-CN" dirty="0"/>
              <a:t>Thanks</a:t>
            </a:r>
            <a:endParaRPr lang="zh-CN" altLang="en-US" dirty="0"/>
          </a:p>
        </p:txBody>
      </p:sp>
    </p:spTree>
    <p:extLst>
      <p:ext uri="{BB962C8B-B14F-4D97-AF65-F5344CB8AC3E}">
        <p14:creationId xmlns:p14="http://schemas.microsoft.com/office/powerpoint/2010/main" val="319974335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10677</TotalTime>
  <Words>728</Words>
  <Application>Microsoft Office PowerPoint</Application>
  <PresentationFormat>宽屏</PresentationFormat>
  <Paragraphs>113</Paragraphs>
  <Slides>12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Ping Hei</vt:lpstr>
      <vt:lpstr>等线</vt:lpstr>
      <vt:lpstr>等线 Light</vt:lpstr>
      <vt:lpstr>方正兰亭黑简体</vt:lpstr>
      <vt:lpstr>Arial</vt:lpstr>
      <vt:lpstr>Roboto</vt:lpstr>
      <vt:lpstr>Times New Roman</vt:lpstr>
      <vt:lpstr>Wingdings</vt:lpstr>
      <vt:lpstr>Office 主题​​</vt:lpstr>
      <vt:lpstr>Yosys Data Model Introduction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洋</dc:creator>
  <cp:lastModifiedBy>刘 洋</cp:lastModifiedBy>
  <cp:revision>120</cp:revision>
  <dcterms:created xsi:type="dcterms:W3CDTF">2022-03-09T14:51:31Z</dcterms:created>
  <dcterms:modified xsi:type="dcterms:W3CDTF">2022-11-22T08:03:46Z</dcterms:modified>
</cp:coreProperties>
</file>